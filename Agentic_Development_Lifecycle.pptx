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FROM SDLC TO ADLC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3498DB"/>
                </a:solidFill>
                <a:latin typeface="Calibri"/>
              </a:defRPr>
            </a:pPr>
            <a:r>
              <a:t>The Agentic Development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371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CF0F1"/>
                </a:solidFill>
                <a:latin typeface="Calibri"/>
              </a:defRPr>
            </a:pPr>
            <a:r>
              <a:t>How AI Tools Like Claude Code Transform Software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5A5A6"/>
                </a:solidFill>
                <a:latin typeface="Calibri"/>
              </a:defRPr>
            </a:pPr>
            <a:r>
              <a:t>A comprehensive guide for developers working with AI-assisted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Powered by the Universal AI Development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Paradigm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08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Traditional SDLC vs Agentic 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463040"/>
            <a:ext cx="914400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Agent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31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6 specialized AI personas + 7 atomic skills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286000"/>
            <a:ext cx="914400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Workflow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54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6-phase mandatory workflow with approval gates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108960"/>
            <a:ext cx="914400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System Building at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77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9-phase lifecycle from idea to production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931920"/>
            <a:ext cx="914400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Design Principles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Contract-first, adapters, vertical slice, safety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754880"/>
            <a:ext cx="914400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Developer Essentials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623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Must-know concepts &amp; common pitfalls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5577840"/>
            <a:ext cx="914400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Traditional SDLC vs Agentic Development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TRADITIONAL SDLC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Linear: Plan → Design → Code → Test → Deploy → Maintain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Sequential phases, long feedback loops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Human writes all code from scratch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Reviews happen after code is written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Testing is a late-phase activity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Documentation often stale or missing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Single developer mindset: "I build everything"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Weeks/months between plan and 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AGENTIC DEVELOPMENT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Cyclic: Scratchpad → Plan → Tasks → Execute → Verify → Reflect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Approval gates at every phase (human-in-the-loop)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AI generates code; human reviews and guides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Architecture review BEFORE any code is written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Tests written alongside code, always verified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Documentation-first: contracts define everything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Multi-agent team: 6 specialized AI personas</a:t>
            </a:r>
          </a:p>
          <a:p>
            <a:pPr>
              <a:spcAft>
                <a:spcPts val="21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Minutes/hours between plan and working prototype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86400" y="2743200"/>
            <a:ext cx="731520" cy="54864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Calibri"/>
              </a:defRPr>
            </a:pPr>
            <a:r>
              <a:t>The fundamental shift: AI is a collaborator, not a tool. Humans set direction; agents execute.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Claude Code?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Calibri"/>
              </a:defRPr>
            </a:pPr>
            <a:r>
              <a:t>Claude Code is an AI coding assistant that acts as a collaborative software engineer, not just a code generator. It understands your project context, follows conventions, and works within defined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103120" cy="22860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Context-Aware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Reads your entire</a:t>
            </a:r>
            <a:br/>
            <a:r>
              <a:t>project structure,</a:t>
            </a:r>
            <a:br/>
            <a:r>
              <a:t>documentation,</a:t>
            </a:r>
            <a:br/>
            <a:r>
              <a:t>and conventions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920240"/>
            <a:ext cx="2103120" cy="22860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Multi-Agent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688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Deploys 6 specialized</a:t>
            </a:r>
            <a:br/>
            <a:r>
              <a:t>AI agents for different</a:t>
            </a:r>
            <a:br/>
            <a:r>
              <a:t>engineering 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920240"/>
            <a:ext cx="2103120" cy="22860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Workflow-Driven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4688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Follows structured</a:t>
            </a:r>
            <a:br/>
            <a:r>
              <a:t>phases with mandatory</a:t>
            </a:r>
            <a:br/>
            <a:r>
              <a:t>approval gates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920240"/>
            <a:ext cx="2103120" cy="22860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Skill-Powered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4688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Uses 7 atomic skills</a:t>
            </a:r>
            <a:br/>
            <a:r>
              <a:t>for code search,</a:t>
            </a:r>
            <a:br/>
            <a:r>
              <a:t>tracing, and fixing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920240"/>
            <a:ext cx="2103120" cy="22860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Tool-Agnostic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4688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Works across Claude,</a:t>
            </a:r>
            <a:br/>
            <a:r>
              <a:t>Cursor, Aider, and</a:t>
            </a:r>
            <a:br/>
            <a:r>
              <a:t>future AI IDEs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34840"/>
            <a:ext cx="11247120" cy="201168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  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1. Read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57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Loads PROJECT.md,</a:t>
            </a:r>
            <a:br/>
            <a:r>
              <a:t>CONVENTIONS.md,</a:t>
            </a:r>
            <a:br/>
            <a:r>
              <a:t>BOUNDARIES.md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606040" y="5349240"/>
            <a:ext cx="228600" cy="18288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2. Analyze Task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257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Creates Scratchpad</a:t>
            </a:r>
            <a:br/>
            <a:r>
              <a:t>with scope, invariants,</a:t>
            </a:r>
            <a:br/>
            <a:r>
              <a:t>and risks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800600" y="5349240"/>
            <a:ext cx="228600" cy="18288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3. Get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257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STOP. Human reviews.</a:t>
            </a:r>
            <a:br/>
            <a:r>
              <a:t>Explicit APPROVE</a:t>
            </a:r>
            <a:br/>
            <a:r>
              <a:t>required to continue.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995160" y="5349240"/>
            <a:ext cx="228600" cy="18288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4. Plan &amp; Execute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257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Generates plan, tasks,</a:t>
            </a:r>
            <a:br/>
            <a:r>
              <a:t>then implements</a:t>
            </a:r>
            <a:br/>
            <a:r>
              <a:t>code step-by-step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189720" y="5349240"/>
            <a:ext cx="228600" cy="18288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5. Verify &amp; Reflect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5257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Runs tests, lint,</a:t>
            </a:r>
            <a:br/>
            <a:r>
              <a:t>type checks. Captures</a:t>
            </a:r>
            <a:br/>
            <a:r>
              <a:t>learnings for next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5-Phase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Calibri"/>
              </a:defRPr>
            </a:pPr>
            <a:r>
              <a:t>Every non-trivial task follows this lifecycle. Human approval gates enforce quality and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CF0F1"/>
                </a:solidFill>
                <a:latin typeface="Calibri"/>
              </a:defRPr>
            </a:pPr>
            <a:r>
              <a:t>Create scratchpad</a:t>
            </a:r>
            <a:br/>
            <a:r>
              <a:t>Analyze codebase</a:t>
            </a:r>
            <a:br/>
            <a:r>
              <a:t>Define scope &amp;</a:t>
            </a:r>
            <a:br/>
            <a:r>
              <a:t>invariants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2011680"/>
            <a:ext cx="274320" cy="27432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51760" y="173736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88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CF0F1"/>
                </a:solidFill>
                <a:latin typeface="Calibri"/>
              </a:defRPr>
            </a:pPr>
            <a:r>
              <a:t>HARD STOP</a:t>
            </a:r>
            <a:br/>
            <a:r>
              <a:t>Human reviews</a:t>
            </a:r>
            <a:br/>
            <a:r>
              <a:t>and approves</a:t>
            </a:r>
            <a:br/>
            <a:r>
              <a:t>or rejects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09160" y="2011680"/>
            <a:ext cx="274320" cy="27432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60" y="173736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788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CF0F1"/>
                </a:solidFill>
                <a:latin typeface="Calibri"/>
              </a:defRPr>
            </a:pPr>
            <a:r>
              <a:t>Implement plan</a:t>
            </a:r>
            <a:br/>
            <a:r>
              <a:t>Follow invariants</a:t>
            </a:r>
            <a:br/>
            <a:r>
              <a:t>One task at a time</a:t>
            </a:r>
            <a:br/>
            <a:r>
              <a:t>No scope creep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95160" y="2011680"/>
            <a:ext cx="274320" cy="27432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3760" y="173736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788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CF0F1"/>
                </a:solidFill>
                <a:latin typeface="Calibri"/>
              </a:defRPr>
            </a:pPr>
            <a:r>
              <a:t>Run tests</a:t>
            </a:r>
            <a:br/>
            <a:r>
              <a:t>Lint &amp; type check</a:t>
            </a:r>
            <a:br/>
            <a:r>
              <a:t>Confirm behavior</a:t>
            </a:r>
            <a:br/>
            <a:r>
              <a:t>matches objective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81160" y="2011680"/>
            <a:ext cx="274320" cy="27432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9760" y="173736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REFLECT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788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CF0F1"/>
                </a:solidFill>
                <a:latin typeface="Calibri"/>
              </a:defRPr>
            </a:pPr>
            <a:r>
              <a:t>Review execution</a:t>
            </a:r>
            <a:br/>
            <a:r>
              <a:t>Capture learnings</a:t>
            </a:r>
            <a:br/>
            <a:r>
              <a:t>Suggest workflow</a:t>
            </a:r>
            <a:br/>
            <a:r>
              <a:t>improvements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6344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  GOLDEN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Scratchpad is the source of truth. Plans explain HOW. Tasks define WHAT. Code is the LAST step.</a:t>
            </a:r>
          </a:p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NEVER skip approval gates — each one is a HARD STOP requiring explicit human APPROVE.</a:t>
            </a:r>
          </a:p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If any decision changes during execution: update scratchpad FIRST and request re-approval.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Agent Team: 6 Specialized AI Personas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bug-hunter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Bug Hunter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Debug and fix defects.</a:t>
            </a:r>
            <a:br/>
            <a:r>
              <a:t>Systematic root cause</a:t>
            </a:r>
            <a:br/>
            <a:r>
              <a:t>diagnosis. Surgical fixes</a:t>
            </a:r>
            <a:br/>
            <a:r>
              <a:t>only. No refactoring.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Skills: locate-code-patterns, diagnose-bug-root-cause, apply-targeted-fix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39" y="10972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79" y="118872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11887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code-reviewer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19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Code Reviewer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1737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Quality and consistency</a:t>
            </a:r>
            <a:br/>
            <a:r>
              <a:t>checks. READ-ONLY.</a:t>
            </a:r>
            <a:br/>
            <a:r>
              <a:t>Reports issues, never</a:t>
            </a:r>
            <a:br/>
            <a:r>
              <a:t>modifies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Skills: validate-architecture, locate-code-patterns, trace-execution-flow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8" y="10972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18" y="118872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38" y="11887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feature-builder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8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Feature Builder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38" y="1737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Implement new features.</a:t>
            </a:r>
            <a:br/>
            <a:r>
              <a:t>Analyzes existing patterns.</a:t>
            </a:r>
            <a:br/>
            <a:r>
              <a:t>Minimal, scoped changes.</a:t>
            </a:r>
            <a:br/>
            <a:r>
              <a:t>No scope creep.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38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Skills: analyze-project-structure, locate-code-patterns, apply-targeted-fix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93192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31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test-engineer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Test Engineer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480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Create and maintain tests.</a:t>
            </a:r>
            <a:br/>
            <a:r>
              <a:t>Verify behavior. Tests</a:t>
            </a:r>
            <a:br/>
            <a:r>
              <a:t>only — never modifies</a:t>
            </a:r>
            <a:br/>
            <a:r>
              <a:t>production code.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532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Skills: verify-bug-regression, trace-execution-flow, analyze-project-structure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39" y="38404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97679" y="393192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399" y="3931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performance-optimizer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19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Performance Optimizer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399" y="4480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Evidence-based optimization.</a:t>
            </a:r>
            <a:br/>
            <a:r>
              <a:t>Measure first, optimize</a:t>
            </a:r>
            <a:br/>
            <a:r>
              <a:t>second. No premature</a:t>
            </a:r>
            <a:br/>
            <a:r>
              <a:t>optimization.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399" y="5532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Skills: trace-execution-flow, diagnose-bug-root-cause, verify-bug-regression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8" y="38404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18" y="393192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38" y="3931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doc-keeper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58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Doc Keeper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38" y="4480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Maintain documentation.</a:t>
            </a:r>
            <a:br/>
            <a:r>
              <a:t>NEVER changes production</a:t>
            </a:r>
            <a:br/>
            <a:r>
              <a:t>code. Keeps docs synced</a:t>
            </a:r>
            <a:br/>
            <a:r>
              <a:t>with code reality.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38" y="5532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Skills: analyze-project-structure, locate-code-patterns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 Atomic Skills: The Agent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Calibri"/>
              </a:defRPr>
            </a:pPr>
            <a:r>
              <a:t>Skills are atomic, reusable procedures that agents invoke. Each has clear inputs, outputs, and decision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09728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1508760"/>
            <a:ext cx="9875520" cy="64008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527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analyze-project-structure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828800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Map dependencies, architecture, and module layout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2240280"/>
            <a:ext cx="9875520" cy="64008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258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locate-code-patterns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560320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Find syntax patterns, variable usage, or conventions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2971800"/>
            <a:ext cx="9875520" cy="64008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9900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trace-execution-flow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291840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Follow data and logic paths through the 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86200"/>
            <a:ext cx="1097280" cy="32004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044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DEBUG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7360" y="3886200"/>
            <a:ext cx="9875520" cy="64008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39044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diagnose-bug-root-cause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206240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Identify why a bug occurs through systematic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37360" y="4617720"/>
            <a:ext cx="9875520" cy="64008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4636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apply-targeted-fix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937760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Modify, create, or delete code with minimal surgical changes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7360" y="5349240"/>
            <a:ext cx="9875520" cy="64008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5367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verify-bug-regression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669280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Run tests and checks to confirm fixes and detect regressions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263640"/>
            <a:ext cx="1097280" cy="32004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2819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6263640"/>
            <a:ext cx="9875520" cy="64008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62819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validate-architecture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6583680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Check code against project architecture rules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760720"/>
            <a:ext cx="11247120" cy="731520"/>
          </a:xfrm>
          <a:prstGeom prst="roundRect">
            <a:avLst>
              <a:gd name="adj" fmla="val 5000"/>
            </a:avLst>
          </a:prstGeom>
          <a:solidFill>
            <a:srgbClr val="1A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760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  Do not invent new skills lightly. Most "new" capabilities are refinements of existing canonical skills. Creating files? Use apply-targeted-fix. Running benchmarks? Use verify-bug-regression.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6-Phase Mandatory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2529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SCRATCHPAD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Analyze codebase. Understand</a:t>
            </a:r>
            <a:br/>
            <a:r>
              <a:t>the problem deeply. Define</a:t>
            </a:r>
            <a:br/>
            <a:r>
              <a:t>scope and invariants.</a:t>
            </a:r>
            <a:br/>
            <a:r>
              <a:t>→ Output: SCRATCHPAD.md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840480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886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67E22"/>
                </a:solidFill>
                <a:latin typeface="Calibri"/>
              </a:defRPr>
            </a:pPr>
            <a:r>
              <a:t>🛑 APPROVAL GATE 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57400" y="2560320"/>
            <a:ext cx="182880" cy="18288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18872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8568" y="122529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18288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Create implementation plan.</a:t>
            </a:r>
            <a:br/>
            <a:r>
              <a:t>Architecture changes, risk</a:t>
            </a:r>
            <a:br/>
            <a:r>
              <a:t>analysis, edge cases.</a:t>
            </a:r>
            <a:br/>
            <a:r>
              <a:t>→ Output: PLAN.md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04288" y="3840480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0008" y="3886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67E22"/>
                </a:solidFill>
                <a:latin typeface="Calibri"/>
              </a:defRPr>
            </a:pPr>
            <a:r>
              <a:t>🛑 APPROVAL GATE 2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995928" y="2560320"/>
            <a:ext cx="182880" cy="18288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51376" y="118872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7096" y="122529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7096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7096" y="18288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Break plan into ordered</a:t>
            </a:r>
            <a:br/>
            <a:r>
              <a:t>steps. Files to modify,</a:t>
            </a:r>
            <a:br/>
            <a:r>
              <a:t>dependencies, expected output.</a:t>
            </a:r>
            <a:br/>
            <a:r>
              <a:t>→ Output: TASKS.md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2816" y="3840480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8536" y="3886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67E22"/>
                </a:solidFill>
                <a:latin typeface="Calibri"/>
              </a:defRPr>
            </a:pPr>
            <a:r>
              <a:t>🛑 APPROVAL GATE 3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34456" y="2560320"/>
            <a:ext cx="182880" cy="18288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118872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122529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5624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IMPLEMENT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5624" y="18288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Write code following</a:t>
            </a:r>
            <a:br/>
            <a:r>
              <a:t>the approved tasks.</a:t>
            </a:r>
            <a:br/>
            <a:r>
              <a:t>One task at a time.</a:t>
            </a:r>
            <a:br/>
            <a:r>
              <a:t>No scope creep.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3840480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7064" y="3886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Calibri"/>
              </a:defRPr>
            </a:pPr>
            <a:r>
              <a:t>Follow tasks strictly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72984" y="2560320"/>
            <a:ext cx="182880" cy="18288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28432" y="118872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4152" y="122529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 / 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18288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Run tests, lint, type checks.</a:t>
            </a:r>
            <a:br/>
            <a:r>
              <a:t>Verify behavior matches</a:t>
            </a:r>
            <a:br/>
            <a:r>
              <a:t>scratchpad objective.</a:t>
            </a:r>
            <a:br/>
            <a:r>
              <a:t>Generate missing tests.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19872" y="3840480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65592" y="3886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Calibri"/>
              </a:defRPr>
            </a:pPr>
            <a:r>
              <a:t>Quality gate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811512" y="2560320"/>
            <a:ext cx="182880" cy="18288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66960" y="118872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12680" y="122529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268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REFLECT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18288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Review execution quality.</a:t>
            </a:r>
            <a:br/>
            <a:r>
              <a:t>Capture learnings.</a:t>
            </a:r>
            <a:br/>
            <a:r>
              <a:t>Suggest workflow</a:t>
            </a:r>
            <a:br/>
            <a:r>
              <a:t>improvements.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3840480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4120" y="3886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Calibri"/>
              </a:defRPr>
            </a:pPr>
            <a:r>
              <a:t>Optional for trivial tasks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4663440"/>
            <a:ext cx="11612880" cy="1828800"/>
          </a:xfrm>
          <a:prstGeom prst="roundRect">
            <a:avLst>
              <a:gd name="adj" fmla="val 5000"/>
            </a:avLst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CRITICAL RULES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• NEVER generate SCRATCHPAD + PLAN in the same response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• NEVER generate PLAN + TASKS in the same response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• NEVER write code before TASKS are approved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• NEVER run all phases in a single execution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• ALWAYS wait for explicit human "APPROVE" before continuing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Approval Gates: Human-in-the-Loop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Calibri"/>
              </a:defRPr>
            </a:pPr>
            <a:r>
              <a:t>Every phase requires explicit human approval before proceeding. This is non-negotiable and prevents AI from running unchecked.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" cy="10058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789920" cy="10058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APPROVAL GATE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Calibri"/>
              </a:defRPr>
            </a:pPr>
            <a:r>
              <a:t>Checks: After SCRATCHPAD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28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Review scope, invariants, and risks. Confirm the AI understands the problem correctly before any planning begins.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Output:</a:t>
            </a:r>
            <a:br/>
            <a:r>
              <a:t>SCRATCHPAD.md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54864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10789920" cy="10058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APPROVAL GATE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Calibri"/>
              </a:defRPr>
            </a:pPr>
            <a:r>
              <a:t>Checks: After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17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Review architecture decisions, module changes, and risk analysis. Confirm the approach is sound before breaking into tasks.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154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Output:</a:t>
            </a:r>
            <a:br/>
            <a:r>
              <a:t>PLAN.md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69080"/>
            <a:ext cx="54864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10789920" cy="10058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APPROVAL GATE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Calibri"/>
              </a:defRPr>
            </a:pPr>
            <a:r>
              <a:t>Checks: After 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Review the ordered implementation steps. Confirm each task is clear, scoped, and has expected outputs.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343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Output:</a:t>
            </a:r>
            <a:br/>
            <a:r>
              <a:t>TASKS.md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57800"/>
            <a:ext cx="54864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257800"/>
            <a:ext cx="10789920" cy="10058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03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APPROVAL GATE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Calibri"/>
              </a:defRPr>
            </a:pPr>
            <a:r>
              <a:t>Checks: After IMPLEMENTATION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3949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Review the completed code. Verify it matches the plan and passes quality checks before final testing.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532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Output:</a:t>
            </a:r>
            <a:br/>
            <a:r>
              <a:t>Completed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Calibri"/>
              </a:defRPr>
            </a:pPr>
            <a:r>
              <a:t>  Additional Triggers: Architecture decisions, breaking changes, and new dependencies also require explicit approval.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 Context Pillars: Teaching the AI About Your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566160" cy="64008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PROJECT.md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WHAT — Primary source of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2024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Project name, description, tech stack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Programming language, framework, database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Package manager and development commands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Directory structure overview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Key architectural patterns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Import and dependency rules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Deployment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188720"/>
            <a:ext cx="3566160" cy="6400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2344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CONVENTIONS.md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463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HOW — Primary source of truth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92024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0116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Communication style (technical, objective)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Naming conventions (files, classes, variables)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Import ordering rules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Code organization patterns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Type safety requirements (strict, no any)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Error handling patterns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Testing standards (Arrange-Act-Assert)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88720"/>
            <a:ext cx="3566160" cy="64008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2344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BOUNDARIES.md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463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DON'T — Primary source of truth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92024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20116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Scope rules (no unrelated refactoring)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Forbidden destructive operations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Sensitive data protection rules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Code integrity invariants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Skipping approval gates = critical failure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Tool-specific usage restrictions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Human review checkpoint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Pre-built Workflows: Automating Common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097280"/>
            <a:ext cx="9601200" cy="5029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143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create-feature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143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Create new module following architecture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645920"/>
            <a:ext cx="9601200" cy="5029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691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fix-bug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916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Systematic bug diagnosis and surgical 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194560"/>
            <a:ext cx="9601200" cy="5029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240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refactor-feature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402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Restructure code preserving behavior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2743200"/>
            <a:ext cx="9601200" cy="5029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2788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add-api-integration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7889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Integrate external API with error handling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844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Review &amp; 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3566160"/>
            <a:ext cx="9601200" cy="5029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3611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review-pr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6118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Comprehensive code review against conventions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0" y="4114800"/>
            <a:ext cx="9601200" cy="5029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4160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review-architecture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160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Validate code against architecture rules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4663440"/>
            <a:ext cx="9601200" cy="5029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4709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add-tests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7091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Generate test suite with proper mocking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5212080"/>
            <a:ext cx="9601200" cy="5029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5257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optimize-performance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2578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Evidence-based bottleneck resolution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035040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0533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Knowledge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0" y="6035040"/>
            <a:ext cx="9601200" cy="5029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6080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get-docs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60807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Fetch documentation for libraries and frameworks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11680" y="6583680"/>
            <a:ext cx="9601200" cy="5029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6629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explain-logic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66294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Explain complex code logic with diagrams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11680" y="7132320"/>
            <a:ext cx="9601200" cy="50292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94560" y="7178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update-docs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7178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Keep documentation synchronized with code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3035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394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  System-Building Workflows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715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• ai-workflow — Master 6-phase lifecycle for all non-trivial tasks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• build-minimum-system — 9-phase compressed lifecycle for solo/small teams (6-8 weeks to production)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• build-large-system — 30-phase BigTech enterprise lifecycle across 8 stages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Build Minimum System: 9-Phase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Calibri"/>
              </a:defRPr>
            </a:pPr>
            <a:r>
              <a:t>Compressed from the 30-phase BigTech lifecycle. Same architectural thinking, no enterprise overhead. ~6-8 weeks solo.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645920"/>
            <a:ext cx="1234440" cy="45720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6420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4884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Business &amp;</a:t>
            </a:r>
            <a:br/>
            <a:r>
              <a:t>Domain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3464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CF0F1"/>
                </a:solidFill>
                <a:latin typeface="Calibri"/>
              </a:defRPr>
            </a:pPr>
            <a:r>
              <a:t>Vision, personas,</a:t>
            </a:r>
            <a:br/>
            <a:r>
              <a:t>NFRs, traffic model,</a:t>
            </a:r>
            <a:br/>
            <a:r>
              <a:t>risk register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463040" y="18288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72768" y="1645920"/>
            <a:ext cx="1234440" cy="45720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18488" y="166420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214884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Architecture &amp;</a:t>
            </a:r>
            <a:br/>
            <a:r>
              <a:t>Domain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283464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CF0F1"/>
                </a:solidFill>
                <a:latin typeface="Calibri"/>
              </a:defRPr>
            </a:pPr>
            <a:r>
              <a:t>Bounded contexts,</a:t>
            </a:r>
            <a:br/>
            <a:r>
              <a:t>security model,</a:t>
            </a:r>
            <a:br/>
            <a:r>
              <a:t>system diagram,</a:t>
            </a:r>
            <a:br/>
            <a:r>
              <a:t>ADRs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61488" y="18288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71216" y="1645920"/>
            <a:ext cx="1234440" cy="45720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16936" y="166420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936" y="214884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Data, API &amp;</a:t>
            </a:r>
            <a:br/>
            <a:r>
              <a:t>Contract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6936" y="283464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CF0F1"/>
                </a:solidFill>
                <a:latin typeface="Calibri"/>
              </a:defRPr>
            </a:pPr>
            <a:r>
              <a:t>ER diagrams, OpenAPI</a:t>
            </a:r>
            <a:br/>
            <a:r>
              <a:t>specs, event schemas,</a:t>
            </a:r>
            <a:br/>
            <a:r>
              <a:t>outbox/inbox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59936" y="18288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69664" y="1645920"/>
            <a:ext cx="1234440" cy="45720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5384" y="166420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5384" y="214884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System Flows</a:t>
            </a:r>
            <a:br/>
            <a:r>
              <a:t>&amp; Tech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384" y="283464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CF0F1"/>
                </a:solidFill>
                <a:latin typeface="Calibri"/>
              </a:defRPr>
            </a:pPr>
            <a:r>
              <a:t>E2E flow diagrams,</a:t>
            </a:r>
            <a:br/>
            <a:r>
              <a:t>tech selection matrix,</a:t>
            </a:r>
            <a:br/>
            <a:r>
              <a:t>infra sketch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358384" y="18288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68112" y="1645920"/>
            <a:ext cx="1234440" cy="45720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13832" y="166420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3832" y="214884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Platform Skeleton</a:t>
            </a:r>
            <a:br/>
            <a:r>
              <a:t>&amp; Dev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3832" y="283464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CF0F1"/>
                </a:solidFill>
                <a:latin typeface="Calibri"/>
              </a:defRPr>
            </a:pPr>
            <a:r>
              <a:t>Core library, service</a:t>
            </a:r>
            <a:br/>
            <a:r>
              <a:t>scaffold, docker-compose,</a:t>
            </a:r>
            <a:br/>
            <a:r>
              <a:t>test infra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56832" y="18288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66560" y="1645920"/>
            <a:ext cx="1234440" cy="45720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166420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14884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CI/CD</a:t>
            </a:r>
            <a:br/>
            <a:r>
              <a:t>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83464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CF0F1"/>
                </a:solidFill>
                <a:latin typeface="Calibri"/>
              </a:defRPr>
            </a:pPr>
            <a:r>
              <a:t>GitHub Actions,</a:t>
            </a:r>
            <a:br/>
            <a:r>
              <a:t>auto-deploy staging,</a:t>
            </a:r>
            <a:br/>
            <a:r>
              <a:t>prod approval gate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955280" y="18288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65008" y="1645920"/>
            <a:ext cx="1234440" cy="45720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0728" y="166420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0728" y="214884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Build: Vertical</a:t>
            </a:r>
            <a:br/>
            <a:r>
              <a:t>Slice to Full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0728" y="283464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CF0F1"/>
                </a:solidFill>
                <a:latin typeface="Calibri"/>
              </a:defRPr>
            </a:pPr>
            <a:r>
              <a:t>1 flow E2E first,</a:t>
            </a:r>
            <a:br/>
            <a:r>
              <a:t>then tier-by-tier</a:t>
            </a:r>
            <a:br/>
            <a:r>
              <a:t>full implementation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253728" y="18288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63456" y="1645920"/>
            <a:ext cx="1234440" cy="45720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09176" y="166420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09176" y="214884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Observability</a:t>
            </a:r>
            <a:br/>
            <a:r>
              <a:t>&amp; Hardening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09176" y="283464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CF0F1"/>
                </a:solidFill>
                <a:latin typeface="Calibri"/>
              </a:defRPr>
            </a:pPr>
            <a:r>
              <a:t>Logs/metrics/traces,</a:t>
            </a:r>
            <a:br/>
            <a:r>
              <a:t>SLO dashboards,</a:t>
            </a:r>
            <a:br/>
            <a:r>
              <a:t>prod readiness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10552176" y="18288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661904" y="1645920"/>
            <a:ext cx="1234440" cy="45720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07624" y="166420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07624" y="214884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Deploy, Stabilize</a:t>
            </a:r>
            <a:br/>
            <a:r>
              <a:t>&amp; Evolve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07624" y="283464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CF0F1"/>
                </a:solidFill>
                <a:latin typeface="Calibri"/>
              </a:defRPr>
            </a:pPr>
            <a:r>
              <a:t>Ship to prod,</a:t>
            </a:r>
            <a:br/>
            <a:r>
              <a:t>1-2 week stabilize,</a:t>
            </a:r>
            <a:br/>
            <a:r>
              <a:t>v2 roadmap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4114800"/>
            <a:ext cx="2743200" cy="32004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4133087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UNDERSTANDING  (Phases 1-4)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60520" y="4114800"/>
            <a:ext cx="27432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40" y="4133087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BUILDING  (Phases 5-7)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0" y="4114800"/>
            <a:ext cx="2743200" cy="32004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20" y="4133087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SHIPPING  (Phases 8-9)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" y="4663440"/>
            <a:ext cx="11612880" cy="18288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  5 GOLDEN RULES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1. Documentation FIRST → Architecture FIRST → Code LAST.</a:t>
            </a:r>
          </a:p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2. Contracts are the source of truth. Code conforms to contracts, not the other way.</a:t>
            </a:r>
          </a:p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3. Vertical slice before horizontal build. Prove 1 flow E2E first.</a:t>
            </a:r>
          </a:p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4. Observability is not optional. Logs, metrics, traces from day 1.</a:t>
            </a:r>
          </a:p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5. The system is never done. Deploy → Stabilize → Learn → Improve → Build.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Vertical Slice Strategy: Prove Then Expand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HORIZONTAL BUILD (DON'T)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4937760" cy="457200"/>
          </a:xfrm>
          <a:prstGeom prst="roundRect">
            <a:avLst>
              <a:gd name="adj" fmla="val 5000"/>
            </a:avLst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████████  All APIs        ████████  All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4937760" cy="457200"/>
          </a:xfrm>
          <a:prstGeom prst="roundRect">
            <a:avLst>
              <a:gd name="adj" fmla="val 5000"/>
            </a:avLst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████████  All Databases   ████████  All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  <a:latin typeface="Calibri"/>
              </a:defRPr>
            </a:pPr>
            <a:r>
              <a:t>Nothing works end-to-end. Integration issues discovered too 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VERTICAL SLICE (DO THIS)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920240"/>
            <a:ext cx="4937760" cy="457200"/>
          </a:xfrm>
          <a:prstGeom prst="roundRect">
            <a:avLst>
              <a:gd name="adj" fmla="val 5000"/>
            </a:avLst>
          </a:prstGeom>
          <a:solidFill>
            <a:srgbClr val="1A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██░░░░░░░░░░░░░░  One API       ██░░░░░░░░░░░░░░  One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68880"/>
            <a:ext cx="4937760" cy="457200"/>
          </a:xfrm>
          <a:prstGeom prst="roundRect">
            <a:avLst>
              <a:gd name="adj" fmla="val 5000"/>
            </a:avLst>
          </a:prstGeom>
          <a:solidFill>
            <a:srgbClr val="1A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██░░░░░░░░░░░░░░  One Database  ██░░░░░░░░░░░░░░  One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Complete flow works end-to-end. Architecture validated early.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Build Tier-by-Tier After Vertical Slice Success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51960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Tier 1: Foundation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Build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User/Auth, Config, Gateway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46320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Tier 2: Core Business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Build second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Product/Catalog, Inventory, Pricing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440680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86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Tier 3: Transactions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Build third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Order, Payment, Cart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6035040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6080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Tier 4: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6080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Build last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6080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Notifications, Analytics, Admin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Contract-First Development: Code Conforms to Contracts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Calibri"/>
              </a:defRPr>
            </a:pPr>
            <a:r>
              <a:t>Design ALL contracts BEFORE writing implementation code. Contracts are the source of truth — they define what to 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3566160" cy="41148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API Contracts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4884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OpenAPI specs for EVERY endpoint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kebab-case paths, plural collections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RFC 7807 standard error responses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Cursor-based pagination (not offset)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URL-path versioning (/v1/)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Rate limiting per-client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45920"/>
            <a:ext cx="3566160" cy="4114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Event Contracts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14884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24028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Standard event envelope schema:</a:t>
            </a:r>
            <a:br/>
            <a:r>
              <a:t>{type, schemaVersion, source,</a:t>
            </a:r>
            <a:br/>
            <a:r>
              <a:t> correlationId, timestamp, payload}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Topic catalog with partition keys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Outbox pattern for transactional publishing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Inbox pattern for deduplication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Schema evolution: add=OK, remove=major version, rename=never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566160" cy="41148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Contracts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4884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24028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ER diagrams with index strategy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Storage type per service (PG, Redis, S3)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Connection pooling strategy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1yr and 3yr storage projections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Database-per-service — no cross-service JOINs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Numbered migrations, never edit existing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577840"/>
            <a:ext cx="11430000" cy="914400"/>
          </a:xfrm>
          <a:prstGeom prst="roundRect">
            <a:avLst>
              <a:gd name="adj" fmla="val 5000"/>
            </a:avLst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COMMON MISTAKES: Code-first APIs → inconsistent contracts in production. Offset pagination → degrades at page 1000+.</a:t>
            </a:r>
          </a:p>
          <a:p>
            <a:pPr>
              <a:spcAft>
                <a:spcPts val="18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  No event versioning → breaking consumers silently. No DLQ design → lost events with no recovery path.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Adapter Pattern: Write Once, Use Anywhere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Calibri"/>
              </a:defRPr>
            </a:pPr>
            <a:r>
              <a:t>Define agents, workflows, and skills ONCE in a tool-agnostic .ai/ directory. Adapters translate into tool-native formats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  .ai/ — Canonical Source of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context/       Project instructions (What/How/Don't)</a:t>
            </a:r>
          </a:p>
          <a:p>
            <a:pPr>
              <a:spcAft>
                <a:spcPts val="15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agents/        AI persona definitions</a:t>
            </a:r>
          </a:p>
          <a:p>
            <a:pPr>
              <a:spcAft>
                <a:spcPts val="15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workflows/     Step-by-step automation</a:t>
            </a:r>
          </a:p>
          <a:p>
            <a:pPr>
              <a:spcAft>
                <a:spcPts val="15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skills/        Atomic reusable procedures</a:t>
            </a:r>
          </a:p>
          <a:p>
            <a:pPr>
              <a:spcAft>
                <a:spcPts val="15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prompts/       Templates and fragments</a:t>
            </a:r>
          </a:p>
          <a:p>
            <a:pPr>
              <a:spcAft>
                <a:spcPts val="15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scripts/       Install, validate, migrate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200400"/>
            <a:ext cx="731520" cy="54864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7E22"/>
                </a:solidFill>
                <a:latin typeface="Calibri"/>
              </a:defRPr>
            </a:pPr>
            <a:r>
              <a:t>Adapters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737360"/>
            <a:ext cx="6858000" cy="73152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103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Generates: .claude/ + CLAUDE.md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2560320"/>
            <a:ext cx="6858000" cy="73152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Antigravity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26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Generates: .agent/ + .gemini/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Workflows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Skills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3383280"/>
            <a:ext cx="6858000" cy="73152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Cursor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749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Generates: .cursorrules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566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566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566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Workflows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3566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Skills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0" y="4206240"/>
            <a:ext cx="6858000" cy="73152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572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Generates: .aider.conf.yml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389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389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Agents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389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Workflows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4389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Skills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46320" y="5029200"/>
            <a:ext cx="6858000" cy="73152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OpenCode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394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Generates: AGENTS.md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Context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Agents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Workflows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4420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CF0F1"/>
                </a:solidFill>
                <a:latin typeface="Calibri"/>
              </a:defRPr>
            </a:pPr>
            <a:r>
              <a:t>  Skills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6035040"/>
            <a:ext cx="1124712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  Design Principles: Tool-agnostic core | Adapter pattern | Convention over configuration | Composable modules | 5-phase operating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Observability: The 3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Calibri"/>
              </a:defRPr>
            </a:pPr>
            <a:r>
              <a:t>Observability is NOT just logging. You need all three pillars working together to understand system behavior at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3611880" cy="45720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3611880" cy="22860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Structured JSON with correlation IDs.</a:t>
            </a:r>
            <a:br/>
            <a:r>
              <a:t>Log levels: debug, info, warn, error.</a:t>
            </a:r>
            <a:br/>
            <a:r>
              <a:t>Every request gets a unique trace ID.</a:t>
            </a:r>
            <a:br/>
            <a:r>
              <a:t>Searchable via CloudWatch/ELK.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77316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Structured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475488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477316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Correlation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7492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0932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Searchable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07492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50932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Levels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737360"/>
            <a:ext cx="3611880" cy="45720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783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METRICS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286000"/>
            <a:ext cx="3611880" cy="22860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377440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RED method: Rate, Errors, Duration.</a:t>
            </a:r>
            <a:br/>
            <a:r>
              <a:t>Per-endpoint latency histograms.</a:t>
            </a:r>
            <a:br/>
            <a:r>
              <a:t>Business KPIs (orders/min, signups/hr).</a:t>
            </a:r>
            <a:br/>
            <a:r>
              <a:t>Prometheus + Grafana dashboards.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75488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477316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75488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77316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Errors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507492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50932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Duration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507492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50932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Business KPIs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1737360"/>
            <a:ext cx="3611880" cy="45720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783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TRACES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2286000"/>
            <a:ext cx="3611880" cy="22860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377440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Distributed tracing across services.</a:t>
            </a:r>
            <a:br/>
            <a:r>
              <a:t>See full request path with timing.</a:t>
            </a:r>
            <a:br/>
            <a:r>
              <a:t>Identify bottlenecks visually.</a:t>
            </a:r>
            <a:br/>
            <a:r>
              <a:t>OpenTelemetry -&gt; Jaeger/X-Ray.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75488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477316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Distributed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475488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04120" y="477316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Timing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507492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50932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Bottlenecks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507492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04120" y="50932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OTel standard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5577840"/>
            <a:ext cx="11430000" cy="9144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623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  SLI / SLO Framework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Define SLOs (Service Level Objectives) → Map to SLI metrics → Build dashboards → Create alerts → Monitor error budget burn rate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Example: SLO "p99 latency &lt; 500ms for checkout" → SLI = p99 checkout latency → Alert if &gt; 500ms for 5 minutes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Safety Boundaries: What the AI Must Never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11880" cy="26060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3520440" cy="36576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Scope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Do NOT modify code outside task scope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Do NOT refactor unrelated code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If &gt; 3 files need changes, verify scope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Each file written once per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097280"/>
            <a:ext cx="3611880" cy="26060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520440" cy="36576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17043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Destructive 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0020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rm -rf or destructive commands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git push without explicit approval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modify build outputs or node_modules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git reset --hard without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097280"/>
            <a:ext cx="3611880" cy="26060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1143000"/>
            <a:ext cx="3520440" cy="36576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17043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Sensitive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60020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read .env files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read secrets or credentials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read infrastructure secrets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expose secrets in code or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886200"/>
            <a:ext cx="3611880" cy="26060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" y="3931920"/>
            <a:ext cx="3520440" cy="36576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5935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Code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8912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mix editing strategies on same file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wipe entire files — edit sections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Re-read files if changed externally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Read all related files before writing any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886200"/>
            <a:ext cx="3611880" cy="26060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51960" y="3931920"/>
            <a:ext cx="3520440" cy="36576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95935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Approval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38912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skip a human approval gate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generate SCRATCHPAD + PLAN together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generate PLAN + TASKS together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write code before TASKS approved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886200"/>
            <a:ext cx="3611880" cy="26060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3931920"/>
            <a:ext cx="3520440" cy="36576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395935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Tool Discipline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38912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Doc tools: for external libs only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Analysis tools: symbols, not broad search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Repo tools: PR management and review only</a:t>
            </a:r>
          </a:p>
          <a:p>
            <a:pPr>
              <a:spcAft>
                <a:spcPts val="165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Never commit secrets through any tool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Developer Essentials: Must-Know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2697480" cy="1691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60604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Agentic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AI-driven development with structured phases, approval gates, and human oversight. Replaces ad-hoc coding with systematic engineering.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97280"/>
            <a:ext cx="2697480" cy="1691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1143000"/>
            <a:ext cx="260604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161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Scratchpad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5087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Always analyze and define scope before planning or coding. The scratchpad is the single source of truth for every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97280"/>
            <a:ext cx="2697480" cy="1691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1143000"/>
            <a:ext cx="260604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161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Approval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5087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HARD STOPS between phases. Human must explicitly approve before AI can proceed. Prevents runaway automation.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97280"/>
            <a:ext cx="2697480" cy="1691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0" y="1143000"/>
            <a:ext cx="260604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161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Context Trilogy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5087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PROJECT.md (what), CONVENTIONS.md (how), BOUNDARIES.md (don't). The AI reads these before every task.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971799"/>
            <a:ext cx="2697480" cy="1691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" y="3017519"/>
            <a:ext cx="260604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3580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Multi-Agent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383279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6 specialized AI agents for different roles. Each has boundaries, skills, and execution rules. Never one agent does everything.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2971799"/>
            <a:ext cx="2697480" cy="1691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91840" y="3017519"/>
            <a:ext cx="260604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03580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Contract-First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383279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Design API specs, event schemas, and data models BEFORE writing code. Code conforms to contracts, not vice versa.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971799"/>
            <a:ext cx="2697480" cy="1691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72200" y="3017519"/>
            <a:ext cx="260604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03580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Vertical Slice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383279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Build one complete flow end-to-end first. Prove architecture works before building all services horizontally.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2971799"/>
            <a:ext cx="2697480" cy="1691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52560" y="3017519"/>
            <a:ext cx="260604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303580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3383279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Logs, metrics, and traces from day 1. Not optional. Without them, production is a black box.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846318"/>
            <a:ext cx="2697480" cy="1691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11480" y="4892038"/>
            <a:ext cx="260604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910326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Adapter Pattern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257798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Define once in tool-agnostic .ai/. Adapters translate to Claude, Cursor, Aider, etc. Write once, use anywhere.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46120" y="4846318"/>
            <a:ext cx="2697480" cy="1691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91840" y="4892038"/>
            <a:ext cx="260604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60" y="4910326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Reflect Phase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5257798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After every task: review execution quality, capture learnings, suggest improvements. Continuous improvement is built in.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0" y="4846318"/>
            <a:ext cx="2697480" cy="1691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72200" y="4892038"/>
            <a:ext cx="260604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4910326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Safety Boundaries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257798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Hard constraints: no destructive ops, no secret exposure, no skipping gates. These are non-negotiable.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06840" y="4846318"/>
            <a:ext cx="2697480" cy="1691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052560" y="4892038"/>
            <a:ext cx="2606040" cy="32004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4910326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Evolution Loop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5257798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Build → Deploy → Monitor → Learn → Improve. The system is never "done." It evolves continuously.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Common Mistakes &amp; Anti-patterns to Avoid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Starting with 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before understanding the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23444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2527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Discovery Phase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7452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92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No MVP scope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12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building everything, shipping nothing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201168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20299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Discovery Phase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5176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70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Services too small (nano-services)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900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network overhead &gt; business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278892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28072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Architecture Phase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42900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472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Shared database between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death of independent deployment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356616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35844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Architecture Phase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20624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224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Code-first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544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inconsistent contracts in production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0" y="434340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69080" y="43616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Contract Design Phase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98348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001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No flow diagrams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218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building services without understanding full request path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12064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9080" y="51389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System Flows Phase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76072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779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No shared core library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099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every service reinvents logging, errors, config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23360" y="589788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5916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Platform Phase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109728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1115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No CI at 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1435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broken code merges to main silently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75520" y="123444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21240" y="12527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CI/CD Phase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187452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1892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Building all services in parallel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212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integration issues discovered too late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75520" y="201168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20299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Build Phase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265176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2670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No vertical slice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29900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architecture flaws hidden until everything is wired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75520" y="278892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21240" y="28072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Build Phase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342900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34472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No structured logging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console.log("error") is useless at 3 AM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75520" y="356616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21240" y="35844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Observability Phase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420624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5080" y="4224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No correlation IDs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5080" y="4544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cannot trace failed requests across services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75520" y="434340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21240" y="43616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Observability Phase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498348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5080" y="5001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Ship and forget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80" y="53218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issues discovered by customers, not by you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875520" y="512064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21240" y="51389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Deploy Phase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0" y="5760720"/>
            <a:ext cx="5577840" cy="667512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55080" y="5779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No tech debt tracking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5080" y="6099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"we'll fix it later" → never fixed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75520" y="589788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21240" y="5916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Evolution Phase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Getting Started: Your First Agentic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15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Copy the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35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Copy .ai/ and adapters/ into your project root. This gives you the full agentic infrastructure instantly.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828800"/>
            <a:ext cx="1033272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1947672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Fill Context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40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Edit PROJECT.md (tech stack, commands), CONVENTIONS.md (coding standards), and BOUNDARIES.md (safety rules) with your project details.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633472"/>
            <a:ext cx="1033272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2752344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9806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24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Choose Your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44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Review .ai/agents/ — keep what fits. The 6 canonical agents cover most projects. Remove what you don't need.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438144"/>
            <a:ext cx="1033272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3557016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0273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5295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Choose Your 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8496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Start with ai-workflow.md, create-feature.md, fix-bug.md. Add more as your team matures.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242816"/>
            <a:ext cx="1033272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8640" y="4361688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40740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342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Install Adapters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542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Run: bash .ai/scripts/install-ai-template.sh. Auto-detects your AI tools and generates tool-native config.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047488"/>
            <a:ext cx="1033272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8640" y="5166360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2120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1389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58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Run: bash .ai/scripts/validate-template.sh. Checks structure, YAML validity, cross-references, and placeholders.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5852160"/>
            <a:ext cx="1033272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8640" y="5971032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0167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Start Building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Begin with a small feature. Follow the scratchpad→plan→tasks→execute→verify→reflect flow. Learn the rhythm.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2362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  Key Commands: install-ai-template.sh | validate-template.sh | adapters/&lt;tool&gt;/install.sh | adapters/&lt;tool&gt;/clean.sh | migrate-from-claude.sh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Mental Models: How to Think in Agentic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" cy="10058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Operating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Plan → Review → Execute → Verify → Reflect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Before coding, ask: Do we have an approved scratchpad? An approved plan? Approved tasks? If any answer is NO, STOP — do not write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4884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54864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Discovery Triangle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WHAT (Problem) ← WHO (Users) → WHY (Value) → HOW BAD (Risks)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Every architectural decision traces back to this triangle. Before building, understand: What problem? For whom? Why does it matter? What can go wrong?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29184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91840"/>
            <a:ext cx="54864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Iceberg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Visible: APIs (10%) | Below water: Domain Model (30%), Security (20%), Data Ownership (20%), Failure Modes (20%)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86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Users see only the API. But 90% of architectural thinking happens below the surface — domain model, security, data ownership, and failure handling.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43484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434840"/>
            <a:ext cx="54864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Platform Pyramid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Bottom: Dev Env → Core Libs → Testing → Top: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Build bottom-up. The dev environment enables everything. Core libraries save 10x time across services. Testing validates all layers.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57784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577840"/>
            <a:ext cx="54864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Infinity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97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BUILD (Design → Build → Test → Deploy) ↔ OPERATE (Monitor → Detect → Respond → Learn) ↔ IMPROVE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The system is never done. It enters a continuous cycle: operate → learn → improve → build. Each iteration makes the system better.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Tool Support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Calibri"/>
              </a:defRPr>
            </a:pPr>
            <a:r>
              <a:t>The Universal AI Dev Template supports multiple AI coding tools through its adapter pattern.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188720" cy="45720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819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50876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20" y="15819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50876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5819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Antigravity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50876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15819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Cursor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50876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5819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50876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5819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OpenCode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965960"/>
            <a:ext cx="118872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039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F0F1"/>
                </a:solidFill>
                <a:latin typeface="Calibri"/>
              </a:defRPr>
            </a:pPr>
            <a:r>
              <a:t>Context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196596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20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CLAUDE.md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196596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STYLE.md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196596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32120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.cursorrules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196596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CONVENTIONS.md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196596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AGENTS.md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560320"/>
            <a:ext cx="118872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633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F0F1"/>
                </a:solidFill>
                <a:latin typeface="Calibri"/>
              </a:defRPr>
            </a:pPr>
            <a:r>
              <a:t>Agent Definitions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256032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74520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256032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In docs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256032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32120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Embedded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256032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256032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System prompt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154680"/>
            <a:ext cx="118872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227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F0F1"/>
                </a:solidFill>
                <a:latin typeface="Calibri"/>
              </a:defRPr>
            </a:pPr>
            <a:r>
              <a:t>Workflows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315468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74520" y="32278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commands/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0" y="315468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03320" y="32278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workflows/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0" y="315468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32120" y="32278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0" y="315468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60920" y="32278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4000" y="315468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9720" y="32278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AGENTS.md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3749040"/>
            <a:ext cx="118872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38221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F0F1"/>
                </a:solidFill>
                <a:latin typeface="Calibri"/>
              </a:defRPr>
            </a:pPr>
            <a:r>
              <a:t>Skills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828800" y="374904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74520" y="3822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57600" y="374904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03320" y="3822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0" y="374904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32120" y="3822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0" y="374904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60920" y="3822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44000" y="374904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89720" y="3822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Embedded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343400"/>
            <a:ext cx="118872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4416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F0F1"/>
                </a:solidFill>
                <a:latin typeface="Calibri"/>
              </a:defRPr>
            </a:pPr>
            <a:r>
              <a:t>Scripts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828800" y="434340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74520" y="44165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657600" y="434340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03320" y="44165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86400" y="434340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32120" y="44165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0" y="434340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60920" y="44165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144000" y="434340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89720" y="44165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Referenced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" y="4937760"/>
            <a:ext cx="118872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5010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F0F1"/>
                </a:solidFill>
                <a:latin typeface="Calibri"/>
              </a:defRPr>
            </a:pPr>
            <a:r>
              <a:t>Clean/Uninstall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828800" y="493776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74520" y="5010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57600" y="493776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703320" y="5010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0" y="493776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32120" y="5010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15200" y="493776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60920" y="5010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144000" y="493776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A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89720" y="5010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Real-World Example: Feature Development with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Calibri"/>
              </a:defRPr>
            </a:pPr>
            <a:r>
              <a:t>How a "User Authentication Module" would be built using the agentic workflow: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645920"/>
            <a:ext cx="1828800" cy="36576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733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SCRATCHPAD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0312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F0F1"/>
                </a:solidFill>
                <a:latin typeface="Calibri"/>
              </a:defRPr>
            </a:pPr>
            <a:r>
              <a:t>AI analyzes project structure</a:t>
            </a:r>
            <a:br/>
            <a:r>
              <a:t>Identifies existing auth patterns (if any)</a:t>
            </a:r>
            <a:br/>
            <a:r>
              <a:t>Reads PROJECT.md, CONVENTIONS.md, BOUNDARIES.md</a:t>
            </a:r>
            <a:br/>
            <a:r>
              <a:t>Defines scope: user model, JWT auth, RBAC, endpoints</a:t>
            </a:r>
            <a:br/>
            <a:r>
              <a:t>Output: SCRATCHPAD.md → Review &amp; Approve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57400" y="3200400"/>
            <a:ext cx="201168" cy="1371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40280" y="1645920"/>
            <a:ext cx="1828800" cy="36576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6733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10312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F0F1"/>
                </a:solidFill>
                <a:latin typeface="Calibri"/>
              </a:defRPr>
            </a:pPr>
            <a:r>
              <a:t>Defines module structure: model → DTO → repo → service → controller</a:t>
            </a:r>
            <a:br/>
            <a:r>
              <a:t>Architecture: PostgreSQL user table, bcrypt hashing, JWT tokens</a:t>
            </a:r>
            <a:br/>
            <a:r>
              <a:t>Risk analysis: token expiry, refresh flow, rate limiting</a:t>
            </a:r>
            <a:br/>
            <a:r>
              <a:t>Output: PLAN.md → Review &amp; Approve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23360" y="3200400"/>
            <a:ext cx="201168" cy="1371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0" y="1645920"/>
            <a:ext cx="1828800" cy="36576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6733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10312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F0F1"/>
                </a:solidFill>
                <a:latin typeface="Calibri"/>
              </a:defRPr>
            </a:pPr>
            <a:r>
              <a:t>Task 1: Create User entity/model</a:t>
            </a:r>
            <a:br/>
            <a:r>
              <a:t>Task 2: Define Auth DTOs with validation</a:t>
            </a:r>
            <a:br/>
            <a:r>
              <a:t>Task 3: Implement UserRepository</a:t>
            </a:r>
            <a:br/>
            <a:r>
              <a:t>Task 4: Create AuthService (register, login, refresh)</a:t>
            </a:r>
            <a:br/>
            <a:r>
              <a:t>Task 5: Build AuthController with endpoints</a:t>
            </a:r>
            <a:br/>
            <a:r>
              <a:t>Task 6: Configure JWT + RBAC middleware</a:t>
            </a:r>
            <a:br/>
            <a:r>
              <a:t>Task 7: Write unit + integration tests</a:t>
            </a:r>
            <a:br/>
            <a:r>
              <a:t>   → Review &amp; Approve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89320" y="3200400"/>
            <a:ext cx="201168" cy="1371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1645920"/>
            <a:ext cx="1828800" cy="36576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6733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0312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F0F1"/>
                </a:solidFill>
                <a:latin typeface="Calibri"/>
              </a:defRPr>
            </a:pPr>
            <a:r>
              <a:t>AI implements each task sequentially</a:t>
            </a:r>
            <a:br/>
            <a:r>
              <a:t>Following existing code style and conventions</a:t>
            </a:r>
            <a:br/>
            <a:r>
              <a:t>Uses project path aliases and patterns</a:t>
            </a:r>
            <a:br/>
            <a:r>
              <a:t>Creates database migration</a:t>
            </a:r>
            <a:br/>
            <a:r>
              <a:t>No scope creep — stays within approved tasks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55280" y="3200400"/>
            <a:ext cx="201168" cy="1371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8160" y="1645920"/>
            <a:ext cx="1828800" cy="365760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16733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10312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F0F1"/>
                </a:solidFill>
                <a:latin typeface="Calibri"/>
              </a:defRPr>
            </a:pPr>
            <a:r>
              <a:t>Runs test suite: unit tests + integration tests</a:t>
            </a:r>
            <a:br/>
            <a:r>
              <a:t>Lint check passes</a:t>
            </a:r>
            <a:br/>
            <a:r>
              <a:t>Type check passes</a:t>
            </a:r>
            <a:br/>
            <a:r>
              <a:t>Endpoints tested with curl/Postman</a:t>
            </a:r>
            <a:br/>
            <a:r>
              <a:t>All approval criteria met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921240" y="3200400"/>
            <a:ext cx="201168" cy="1371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04120" y="1645920"/>
            <a:ext cx="1828800" cy="36576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16733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REFLECT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210312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F0F1"/>
                </a:solidFill>
                <a:latin typeface="Calibri"/>
              </a:defRPr>
            </a:pPr>
            <a:r>
              <a:t>Execution matched plan with minor deviation</a:t>
            </a:r>
            <a:br/>
            <a:r>
              <a:t>Learned: auth patterns can be extracted to shared library</a:t>
            </a:r>
            <a:br/>
            <a:r>
              <a:t>Suggestion: add 2FA workflow to future roadmap</a:t>
            </a:r>
            <a:br/>
            <a:r>
              <a:t>Output: reflection.md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Evolution Path: From Solo to Enterprise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Calibri"/>
              </a:defRPr>
            </a:pPr>
            <a:r>
              <a:t>Scale from the 9-phase minimum system to the full 30-phase BigTech lifecycle as your needs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286000" cy="59436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&gt; 5 services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34640" y="1783080"/>
            <a:ext cx="365760" cy="27432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737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Add Event Schema Governance (Phase 09 from full lifecycle)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23160"/>
            <a:ext cx="2286000" cy="59436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68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Regulated data</a:t>
            </a:r>
            <a:br/>
            <a:r>
              <a:t>(PCI/GDPR/HIPAA)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834640" y="2560320"/>
            <a:ext cx="365760" cy="27432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514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Add Compliance &amp; Data Governance (Phase 22)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2286000" cy="59436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461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Multi-team</a:t>
            </a:r>
            <a:br/>
            <a:r>
              <a:t>development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834640" y="3337560"/>
            <a:ext cx="365760" cy="27432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3291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Add full ADR process, API governance, multi-team coordination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77640"/>
            <a:ext cx="2286000" cy="59436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233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&gt; 10K RPS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834640" y="4114800"/>
            <a:ext cx="365760" cy="27432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4069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Add Performance Engineering (Phase 21), Chaos Engineering (Phase 23)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54880"/>
            <a:ext cx="2286000" cy="59436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800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Multi-region</a:t>
            </a:r>
            <a:br/>
            <a:r>
              <a:t>deployment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834640" y="4892040"/>
            <a:ext cx="365760" cy="27432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846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Add Multi-Region Disaster Recovery (Phase 24)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532120"/>
            <a:ext cx="2286000" cy="59436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5778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99.99%+ SLO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834640" y="5669280"/>
            <a:ext cx="365760" cy="27432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623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Calibri"/>
              </a:defRPr>
            </a:pPr>
            <a:r>
              <a:t>Add full hardening suite (Phases 20-25) with advanced resilience patterns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  Full 30-Phase Stages: Discovery (P1-3) → Domain &amp; Architecture (P4-11) → Platform &amp; Infra (P12-16) → Service Dev (P17-19) → Hardening (P20-25) → Launch (P26-27) → Operations (P28-29) → Evolution (P30)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1371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CF0F1"/>
                </a:solidFill>
                <a:latin typeface="Calibri"/>
              </a:defRPr>
            </a:pPr>
            <a:r>
              <a:t>The future of software development is agentic.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5A5A6"/>
                </a:solidFill>
                <a:latin typeface="Calibri"/>
              </a:defRPr>
            </a:pPr>
            <a:r>
              <a:t>AI is your collaborator. You set direction. Agents execute.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805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Key Takeaways:</a:t>
            </a:r>
          </a:p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  • Think first, code last — the scratchpad is your source of truth</a:t>
            </a:r>
          </a:p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  • Human approval gates ensure quality and prevent runaway automation</a:t>
            </a:r>
          </a:p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  • 6 specialized AI agents cover every engineering discipline</a:t>
            </a:r>
          </a:p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  • Contract-first design prevents the #1 production issue: inconsistent APIs</a:t>
            </a:r>
          </a:p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  • Build vertical slices — prove 1 flow end-to-end before expanding horizontally</a:t>
            </a:r>
          </a:p>
          <a:p>
            <a:pPr>
              <a:spcAft>
                <a:spcPts val="195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  • Observability (logs + metrics + traces) is not optional — it's for your 3 AM self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98DB"/>
                </a:solidFill>
                <a:latin typeface="Calibri"/>
              </a:defRPr>
            </a:pPr>
            <a:r>
              <a:t>github.com/anomalyco/universal-AI-development-template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