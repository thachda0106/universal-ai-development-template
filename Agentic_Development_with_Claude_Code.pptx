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AGENTIC DEVELOPMENT</a:t>
            </a:r>
            <a:br/>
            <a:r>
              <a:t>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98DB"/>
                </a:solidFill>
                <a:latin typeface="Calibri"/>
              </a:defRPr>
            </a:pPr>
            <a:r>
              <a:t>From AI Assistant to AI Engineering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F0F1"/>
                </a:solidFill>
                <a:latin typeface="Calibri"/>
              </a:defRPr>
            </a:pPr>
            <a:r>
              <a:t>A comprehensive guide for developers to master AI-assisted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Claude Code + Agentic Workflow = The New SDLC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338560" cy="26060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07008"/>
            <a:ext cx="1188720" cy="292608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88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Claude Code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087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Skills, Commands, MCP, Sub-agents, Context, Memory, Hooks, Plugins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74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Skills System — Custom SKILL.md files &amp; bundled skills for repeatable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Commands — Built-in slash commands &amp; bundled skill commands for every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77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MCP Protocol — Connect to 300+ external tools, databases, and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Sub-agents — Explore, Plan, General-purpose &amp; custom agent delegation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Context &amp; Memory — CLAUDE.md, auto-memory, and context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Hooks &amp; Plugins — Customize behavior and extend capabilities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86200"/>
            <a:ext cx="11338560" cy="26060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995928"/>
            <a:ext cx="1188720" cy="292608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05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977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Agentic Development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976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6-phase mandatory lifecycle with human approval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5-Phase Operating Model — Plan, Review, Execute, Verify, 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6-Phase Detailed Workflow — Scratchpad through Reflect with gate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66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Approval Gates — Human-in-the-loop at every phase (HARD STOP)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166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Contract-First Design — API specs, event schemas, data models before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69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Vertical Slice Strategy — Prove 1 flow E2E before building all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669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  Safety Boundaries — What the AI must never do — non-negotiable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is Claude Code?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An agentic coding tool that reads your codebase, edits files, runs commands, and integrates with your dev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219456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Context-Aware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Reads entire project</a:t>
            </a:r>
            <a:br/>
            <a:r>
              <a:t>structure, docs,</a:t>
            </a:r>
            <a:br/>
            <a:r>
              <a:t>conventions,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1463040"/>
            <a:ext cx="219456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59" y="150876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1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Terminal CLI, VS Code,</a:t>
            </a:r>
            <a:br/>
            <a:r>
              <a:t>JetBrains, Desktop app,</a:t>
            </a:r>
            <a:br/>
            <a:r>
              <a:t>Web browser, 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1463040"/>
            <a:ext cx="219456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83479" y="150876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9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Tool-Rich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1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Bash, Read, Write, Edit,</a:t>
            </a:r>
            <a:br/>
            <a:r>
              <a:t>Glob, Grep, Task,</a:t>
            </a:r>
            <a:br/>
            <a:r>
              <a:t>WebFetch, 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1463040"/>
            <a:ext cx="219456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199" y="150876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Plans, researches, writes</a:t>
            </a:r>
            <a:br/>
            <a:r>
              <a:t>code, runs tests, creates</a:t>
            </a:r>
            <a:br/>
            <a:r>
              <a:t>commits and PRs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463040"/>
            <a:ext cx="219456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20" y="1508760"/>
            <a:ext cx="2103120" cy="365760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196596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Skills, Hooks, Plugins,</a:t>
            </a:r>
            <a:br/>
            <a:r>
              <a:t>MCP servers, custom</a:t>
            </a:r>
            <a:br/>
            <a:r>
              <a:t>sub-agents, Agent SDK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383280"/>
            <a:ext cx="11612880" cy="32004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How Claude Code 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77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1. Read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Loads CLAUDE.md,</a:t>
            </a:r>
            <a:br/>
            <a:r>
              <a:t>project settings,</a:t>
            </a:r>
            <a:br/>
            <a:r>
              <a:t>MCP servers, skills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523743" y="4846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0" y="388620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977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2. Understand 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Analyzes your request</a:t>
            </a:r>
            <a:br/>
            <a:r>
              <a:t>against codebase,</a:t>
            </a:r>
            <a:br/>
            <a:r>
              <a:t>context and memory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809743" y="4846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0" y="388620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3977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3. Plan 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Creates scratchpad,</a:t>
            </a:r>
            <a:br/>
            <a:r>
              <a:t>defines scope,</a:t>
            </a:r>
            <a:br/>
            <a:r>
              <a:t>identifies relevant files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095743" y="4846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0" y="388620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3977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4. Execute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Reads, writes, edits,</a:t>
            </a:r>
            <a:br/>
            <a:r>
              <a:t>runs commands, spawns</a:t>
            </a:r>
            <a:br/>
            <a:r>
              <a:t>sub-agents as needed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381743" y="4846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01200" y="388620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977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5. Verify &amp; 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Runs tests, lint,</a:t>
            </a:r>
            <a:br/>
            <a:r>
              <a:t>type checks. Reports</a:t>
            </a:r>
            <a:br/>
            <a:r>
              <a:t>results back to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Claude Code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Create custom SKILL.md files to package repeatable workflows. Skills extend what Claude can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4114800" cy="53949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Skill 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my-skill/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SKILL.md           (required)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   YAML frontmatter + instructions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template.md        (optional)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   Template for Claude to fill in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examples/          (optional)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  sample.md         Expected output format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scripts/           (optional)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  helper.py         Scripts Claude can 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474720"/>
            <a:ext cx="3840480" cy="292608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Frontmatter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9534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886200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89534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42232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5137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when_to_use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142232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15137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arguments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8264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argument-hint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398264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40740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disable-model-invocation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54296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63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user-invocable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654296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46634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allowed-tools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10328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919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4910328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4919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effort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66360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17550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66360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517550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22392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43153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paths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5422392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543153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78424"/>
            <a:ext cx="1783080" cy="219456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68756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shell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1234440"/>
            <a:ext cx="7132320" cy="21945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132588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SKILL.md Format — Reference Content Skill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160020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description: "API design patterns for this codebase"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When writing API endpoints: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 Use RESTful naming conventions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 Return consistent error formats (RFC 7807)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 Include request validation on all inputs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 Use cursor-based pagination, not offset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 Version via URL path: /v1/resource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40" y="3657600"/>
            <a:ext cx="7132320" cy="16916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3749039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SKILL.md Format — Task Content Skill (with /deploy example)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02336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name: deploy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description: Deploy the application to production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disable-model-invocation: true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allowed-tools: Bash(git *) Bash(npm *)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Deploy $ARGUMENTS to production: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1. Run the test suite   2. Build the application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3. Push to deployment target   4. Verify deployment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577840"/>
            <a:ext cx="7132320" cy="10515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56509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Where Skills 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897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8978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F0F1"/>
                </a:solidFill>
                <a:latin typeface="Calibri"/>
              </a:defRPr>
            </a:pPr>
            <a:r>
              <a:t>Managed settings — all 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897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Personal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58978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F0F1"/>
                </a:solidFill>
                <a:latin typeface="Calibri"/>
              </a:defRPr>
            </a:pPr>
            <a:r>
              <a:t>~/.claude/skills/ — all projects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62270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622706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F0F1"/>
                </a:solidFill>
                <a:latin typeface="Calibri"/>
              </a:defRPr>
            </a:pPr>
            <a:r>
              <a:t>.claude/skills/ — shared via git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2270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Plugin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622706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F0F1"/>
                </a:solidFill>
                <a:latin typeface="Calibri"/>
              </a:defRPr>
            </a:pPr>
            <a:r>
              <a:t>&lt;plugin&gt;/skills/ — packaged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Claude Code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Built-in slash commands and bundled skills. Type / to see everything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57607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5669280" cy="347472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07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Context &amp;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/compact — Summarize conversation, free context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/clear   — Start fresh (old session in /resume)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231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/memory  — Edit CLAUDE.md, manage auto-memory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/init    — Initialize project with CLAUDE.md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/context — Visualize context usage as colored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/add-dir — Add directory for file access this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57607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280160"/>
            <a:ext cx="5669280" cy="347472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07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/review         — Review pull request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/security-review — Analyze changes for security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231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/batch          — Orchestrate large-scale changes across codebase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/debug          — Enable debug logging, troubleshoot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63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/plan           — Enter plan mode for read-only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/diff           — Interactive diff viewer of all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931920"/>
            <a:ext cx="57607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" y="3977640"/>
            <a:ext cx="5669280" cy="347472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005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/model       — Switch AI models, adjust effort levels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/permissions — Manage tool allow/ask/deny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120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/config      — Open settings (theme, model, output style)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/mcp         — Manage MCP server connections and OAuth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/hooks       — View and configure hook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/agents      — Create and manage sub-agent configurations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31920"/>
            <a:ext cx="57607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3977640"/>
            <a:ext cx="5669280" cy="347472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005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Workflow &amp;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/schedule — Create routines that run on Anthropic 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/loop     — Run prompt repeatedly at specified interval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120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/resume   — Resume a conversation by ID or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/rewind   — Rewind conversation and/or code to previous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/export   — Export current conversation as plain 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/recap    — Generate one-line summary of current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Connect Claude Code to hundreds of external tools, databases, and APIs through an open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5669280" cy="25603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What You Can Do with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Implement features from Jira issues, create PRs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Analyze Sentry errors, query PostgreSQL databases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Upload designs from Figma, read docs from Google Drive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Create Gmail drafts, update tickets, pull Slack data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Connect 300+ servers: Notion, Asana, Stripe, Airtable...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Build custom MCP servers with the MCP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669280" cy="11887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Installation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HTTP (recommended):  claude mcp add --transport http &lt;name&gt; &lt;url&gt;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Stdio (local):       claude mcp add --transport stdio &lt;name&gt; -- &lt;cmd&gt;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JSON import:         claude mcp add-json &lt;name&gt; '&lt;json&gt;'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669280" cy="11887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MCP Installation Scopes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Local    — Current project only (private to you)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Project  — .mcp.json in project root (team via version control)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User     — All your projects, stored in ~/.claude.json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23360"/>
            <a:ext cx="11612880" cy="25603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Key MCP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Tool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1830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Only tool names load at session start. Schemas deferred until needed. Minimal context impact with dozens of servers.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4805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OAuth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71830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Secure authentication for cloud services. Tokens stored in system keychain, refreshed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805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Dynamic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1830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Servers send list_changed notifications to update tools/prompts without reconnecting.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406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MCP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7842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Reference server resources with @ mentions. Auto-fetched and included as attachments.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4406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67842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MCP servers push messages into your session — react to CI results, monitoring alerts, chat messages.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4406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Managed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67842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Enterprise: deploy managed-mcp.json for fixed server sets. Allowlists/denylists for policy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Sub-agents &amp; Agent Delegation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Spawn specialized AI assistants for specific tasks. Preserve context by isolating verbose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2788920" cy="30175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2697480" cy="384048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Read-only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659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Model: Haiku (fast)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1488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Tools: Glob, Grep,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23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File discovery, code search,</a:t>
            </a:r>
            <a:br/>
            <a:r>
              <a:t>codebase exploration. Keeps</a:t>
            </a:r>
            <a:br/>
            <a:r>
              <a:t>search results out of main</a:t>
            </a:r>
            <a:br/>
            <a:r>
              <a:t>context for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788920" cy="30175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2697480" cy="384048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3075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7373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Research for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19659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Model: Inherits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1488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Tools: Read-only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2423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Used during plan mode to</a:t>
            </a:r>
            <a:br/>
            <a:r>
              <a:t>gather context before</a:t>
            </a:r>
            <a:br/>
            <a:r>
              <a:t>presenting an implementation</a:t>
            </a:r>
            <a:br/>
            <a:r>
              <a:t>plan to the user.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34440"/>
            <a:ext cx="2788920" cy="30175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280160"/>
            <a:ext cx="2697480" cy="384048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3075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General-purpose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7373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Full-capability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9659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Model: Inherits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1488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Tools: All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423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Complex multi-step tasks</a:t>
            </a:r>
            <a:br/>
            <a:r>
              <a:t>requiring both exploration</a:t>
            </a:r>
            <a:br/>
            <a:r>
              <a:t>and code modification.</a:t>
            </a:r>
            <a:br/>
            <a:r>
              <a:t>Most flexible built-in agent.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1234440"/>
            <a:ext cx="2788920" cy="30175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1280160"/>
            <a:ext cx="2697480" cy="384048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3075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17373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Your own sub-agents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19659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Model: 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21488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Tools: You define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2423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Create via /agents command</a:t>
            </a:r>
            <a:br/>
            <a:r>
              <a:t>or .claude/agents/*.md files.</a:t>
            </a:r>
            <a:br/>
            <a:r>
              <a:t>Custom prompts, tool access,</a:t>
            </a:r>
            <a:br/>
            <a:r>
              <a:t>model, and permission modes.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48056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5720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Custom Agent 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463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Frontmatter fields: name, description, tools, disallowedTools,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model, permissionMode, maxTurns, skills, mcpServers, hooks,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memory, background, effort, isolation, color, initialPrompt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Agent file locations: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.claude/agents/ — Project (shared via git)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~/.claude/agents/ — Personal (all projects)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--agents flag — CLI session only | Managed — Enterprise-wide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48056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5720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Common Delegation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Isolate high-volume ops — tests, logs, file searches stay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in the sub-agent. Only summary returns to main conversation.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Run parallel research — spawn multiple agents to explore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different modules simultaneously, then synthesize results.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Chain sub-agents — reviewer finds issues, fixer implements,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tester verifies. Each agent has focused scope and tools.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Fork conversation — sub-agent inherits full context, works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on side task while you continue in main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Context &amp; Memory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How Claude Code understands your project and remembers across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5669280" cy="33832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CLAUDE.md — Your Project Constitution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The primary way to teach Claude Code about your project.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Claude reads CLAUDE.md at the start of EVERY session.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What to include: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Coding standards and architecture decisions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Preferred libraries, frameworks, and tools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Common commands (build, test, lint, deploy)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Key patterns, naming conventions, import rules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Review checklists and security requirements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Path-specific rules for monorepos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Locations (merged in priority order):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./CLAUDE.md  — Project root (checked into git)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~/.claude/CLAUDE.md — Personal (all projects)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Managed settings — Enterprise-wide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669280" cy="15544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25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Auto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Claude builds auto-memory as it works — saving learnings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like build commands, debugging insights, and project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patterns across sessions without you writing anything.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Manage with /memory command. Enable/disable per project.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Auto-memory entries survive conversation compaction.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669280" cy="16459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Context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/compact   — Summarize conversation, free context space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/context   — Visualize context usage as colored grid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/add-dir   — Add directory for file access this session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/clear     — Start fresh (old session available in /resume)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Auto-compaction triggers at ~95% context capacity.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Compaction preserves rules, skills, and recent 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11612880" cy="17373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93776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Memory &amp; Context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98DB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25780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Base instructions loaded every session — agent persona, safety rules, tool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772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CLAUDE.md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477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Project root, user home, managed settings — merged in priority order at session start.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967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Calibri"/>
              </a:defRPr>
            </a:pPr>
            <a:r>
              <a:t>Auto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6967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Claude learns from sessions: build commands, debugging insights, project patterns.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Sub-agent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91616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Custom sub-agents get persistent memory dirs (user/project/local) for cross-session learning.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356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Skills &amp; Commands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13562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Inspected on startup, content loaded only when invoked. Reference material costs almost nothing.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98DB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635508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Deferred by default (tool search). Only actually-used tools enter the context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Hooks, Plugins &amp;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Customize Claude Code behavior, extend capabilities, and automate recurring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3657600" cy="365760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Lifecycle Automation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PreToolUse — Validate before run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PostToolUse — React after run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Notification — Desktop alerts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SubagentStart / SubagentStop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Elicitation — Handle MCP dialogs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Example: Auto-format after edit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Example: Block destructive git ops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Example: Run linter before commit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Example: Validate DB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657600" cy="36576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07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Plugins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Share &amp; Distribute Extensions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A plugin can bundle: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Skills (SKILL.md files)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MCP servers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Sub-agents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Hooks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CLAUDE.md fragments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Install with /plugin command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Manage: enable, disable, update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Team: share via managed settings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Custom: build your own plugins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749039" cy="45720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280160"/>
            <a:ext cx="3657600" cy="365760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07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783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Run Claude on a Schedule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Routines: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Run on Anthropic infra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Trigger: schedule, API, GitHub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Continue even when PC is off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Desktop Scheduled Tasks: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Run on your machine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• Direct file system access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/loop — Repeat within CLI session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/schedule — Create and manage routines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6035040"/>
            <a:ext cx="11612880" cy="5943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080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Calibri"/>
              </a:defRPr>
            </a:pPr>
            <a:r>
              <a:t>More: GitHub Actions for CI/CD  |  Slack Integration (@Claude)  |  Chrome Extension for browser debugging  |  Remote Control (phone/browser)  |  Agent SDK for custom agents  |  Agent Teams for parallel coordination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Best Practices for Working with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Patterns that maximize effectiveness and minimize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11612880" cy="960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4864" cy="9601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Write Effective 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Keep it concise — every line costs context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54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State facts: "We use PostgreSQL" not "We decided to use PostgreSQL because..."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10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Include common commands: build, test, lint,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10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path-specific rules for monorepos: **/frontend/** applies only to that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286000"/>
            <a:ext cx="11612880" cy="960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54864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Craft Good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Be specific: "Add validation to POST /users" not "improve the API"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Provide context: reference files, error messages, expected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077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Break large tasks into smaller, focused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9077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@ mentions to reference files and sub-agents for precision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383280"/>
            <a:ext cx="11612880" cy="960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54864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Manage Context Wisely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/compact when conversation gets long — preserves key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Delegate verbose operations to sub-agents (test runs, log analysis)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05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/context to visualize what is consuming your context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05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Clear stale context with /clear; old sessions available via /resume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480559"/>
            <a:ext cx="11612880" cy="960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480559"/>
            <a:ext cx="54864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Leverage Sub-agents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Create custom sub-agents for recurring task types in your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8463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Explore agent for codebase research (isolates search from main context)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02351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Run independent research in parallel with multiple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02351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Chain sub-agents: reviewer → fixer → tester for quality pipeline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577840"/>
            <a:ext cx="11612880" cy="96012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577840"/>
            <a:ext cx="54864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23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in the 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Commit early, commit often — Claude works best with git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943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/review for pre-merge code review, /security-review for vulnerabilities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99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Share CLAUDE.md and skills via version control for team consistency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199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  <a:latin typeface="Calibri"/>
              </a:defRPr>
            </a:pPr>
            <a:r>
              <a:t>  Use project-scoped MCP servers (.mcp.json) for shared team tool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AE60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Calibri"/>
              </a:defRPr>
            </a:pPr>
            <a:r>
              <a:t>The Agentic Development</a:t>
            </a:r>
            <a:br/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CF0F1"/>
                </a:solidFill>
                <a:latin typeface="Calibri"/>
              </a:defRPr>
            </a:pPr>
            <a:r>
              <a:t>Think first. Plan second. Code last. Always.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Agentic Development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Traditional SDLC replaced by systematic AI-human collaboration with mandatory approval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5577840" cy="420624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TRADITIONAL SDLC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37360"/>
            <a:ext cx="5577840" cy="45720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Plan → Design → Code → Test → Deploy → Maintain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Linear, sequential phases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Long feedback loops (weeks/months)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Human writes all code from scratch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Reviews happen AFTER code is written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Testing is a late-phase activity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Documentation often stale or missing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Single developer mindset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  "I build everything myself"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Result: Slow, error-prone,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hard to course-correct mid-project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577840" cy="420624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AGENTIC DEVELOPMENT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577840" cy="457200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Scratchpad → Plan → Tasks → Execute → Verify → Reflect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Cyclic, iterative process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Fast feedback (minutes/hours)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AI generates code; human reviews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Architecture review BEFORE code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Tests written alongside code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Documentation-first: contracts define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• Multi-agent team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  6+ specialized AI personas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Result: Fast, quality-gated,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continuously self-improving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77840" y="3017520"/>
            <a:ext cx="640080" cy="45720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"AI is a collaborator, not a tool. Humans set direction; agents execute."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5-Phase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Every non-trivial task follows this lifecycle. Human approval gates enforce quality and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43000"/>
            <a:ext cx="2194560" cy="777240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057400"/>
            <a:ext cx="2048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Create scratchpad</a:t>
            </a:r>
            <a:br/>
            <a:r>
              <a:t>Analyze codebase</a:t>
            </a:r>
            <a:br/>
            <a:r>
              <a:t>Define scope</a:t>
            </a:r>
            <a:br/>
            <a:r>
              <a:t>Identify invariants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86584" y="1417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1143000"/>
            <a:ext cx="2194560" cy="777240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057400"/>
            <a:ext cx="2048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HARD STOP</a:t>
            </a:r>
            <a:br/>
            <a:r>
              <a:t>Human reviews</a:t>
            </a:r>
            <a:br/>
            <a:r>
              <a:t>Explicit APPROVE</a:t>
            </a:r>
            <a:br/>
            <a:r>
              <a:t>required to continue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18304" y="1417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143000"/>
            <a:ext cx="2194560" cy="77724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057400"/>
            <a:ext cx="2048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Implement the plan</a:t>
            </a:r>
            <a:br/>
            <a:r>
              <a:t>Follow invariants</a:t>
            </a:r>
            <a:br/>
            <a:r>
              <a:t>One task at a time</a:t>
            </a:r>
            <a:br/>
            <a:r>
              <a:t>No scope creep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0024" y="1417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59" y="1143000"/>
            <a:ext cx="2194560" cy="777240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9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1" y="2057400"/>
            <a:ext cx="2048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Run tests</a:t>
            </a:r>
            <a:br/>
            <a:r>
              <a:t>Lint &amp; type check</a:t>
            </a:r>
            <a:br/>
            <a:r>
              <a:t>Confirm behavior</a:t>
            </a:r>
            <a:br/>
            <a:r>
              <a:t>matches objective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1743" y="141732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5480" y="1143000"/>
            <a:ext cx="2194560" cy="777240"/>
          </a:xfrm>
          <a:prstGeom prst="roundRect">
            <a:avLst>
              <a:gd name="adj" fmla="val 3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057400"/>
            <a:ext cx="2048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Review execution</a:t>
            </a:r>
            <a:br/>
            <a:r>
              <a:t>Capture learnings</a:t>
            </a:r>
            <a:br/>
            <a:r>
              <a:t>Suggest workflow</a:t>
            </a:r>
            <a:br/>
            <a:r>
              <a:t>improvements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3931920"/>
            <a:ext cx="11704320" cy="265176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GOLDEN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1. Scratchpad is the SOURCE OF TRUTH. Plans explain HOW. Tasks define WHAT. Code is the LAST step.</a:t>
            </a:r>
          </a:p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2. NEVER skip approval gates — each one is a HARD STOP requiring explicit human "APPROVE".</a:t>
            </a:r>
          </a:p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3. NEVER generate SCRATCHPAD + PLAN in the same response. NEVER PLAN + TASKS together.</a:t>
            </a:r>
          </a:p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4. NEVER write implementation code before TASKS are approved by a human.</a:t>
            </a:r>
          </a:p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5. If any decision changes during execution: update scratchpad FIRST and request re-approval.</a:t>
            </a:r>
          </a:p>
          <a:p>
            <a:pPr>
              <a:spcAft>
                <a:spcPts val="200"/>
              </a:spcAft>
              <a:defRPr sz="1200">
                <a:solidFill>
                  <a:srgbClr val="ECF0F1"/>
                </a:solidFill>
                <a:latin typeface="Calibri"/>
              </a:defRPr>
            </a:pPr>
            <a:r>
              <a:t>6. Before coding, ALWAYS ask: Approved scratchpad? Approved plan? Approved tasks? If NO →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6-Phase Mandatory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Every non-trivial task: Scratchpad → Plan → Tasks → Execute → Verify → Reflect.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SCRATCHPAD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Analyze codebase.</a:t>
            </a:r>
            <a:br/>
            <a:r>
              <a:t>Understand problem.</a:t>
            </a:r>
            <a:br/>
            <a:r>
              <a:t>Define scope &amp; invariants.</a:t>
            </a:r>
            <a:br/>
            <a:r>
              <a:t>→ SCRATCHPAD.md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GATE 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38528" y="228600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30552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Architecture changes.</a:t>
            </a:r>
            <a:br/>
            <a:r>
              <a:t>Risk analysis.</a:t>
            </a:r>
            <a:br/>
            <a:r>
              <a:t>Edge cases.</a:t>
            </a:r>
            <a:br/>
            <a:r>
              <a:t>→ PLAN.md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21992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GATE 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31920" y="228600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23944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4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4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Ordered steps.</a:t>
            </a:r>
            <a:br/>
            <a:r>
              <a:t>Files to modify.</a:t>
            </a:r>
            <a:br/>
            <a:r>
              <a:t>Dependencies.</a:t>
            </a:r>
            <a:br/>
            <a:r>
              <a:t>→ TASKS.md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5384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🛑 GATE 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25312" y="228600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17336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Write code following</a:t>
            </a:r>
            <a:br/>
            <a:r>
              <a:t>approved tasks.</a:t>
            </a:r>
            <a:br/>
            <a:r>
              <a:t>One task at a time.</a:t>
            </a:r>
            <a:br/>
            <a:r>
              <a:t>No scope creep.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Follow strictly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18704" y="228600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0728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Run tests, lint,</a:t>
            </a:r>
            <a:br/>
            <a:r>
              <a:t>type checks.</a:t>
            </a:r>
            <a:br/>
            <a:r>
              <a:t>Verify vs scratchpad</a:t>
            </a:r>
            <a:br/>
            <a:r>
              <a:t>objective.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Quality 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12096" y="2286000"/>
            <a:ext cx="201168" cy="146304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04120" y="1188720"/>
            <a:ext cx="1828800" cy="475488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197864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1783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F0F1"/>
                </a:solidFill>
                <a:latin typeface="Calibri"/>
              </a:defRPr>
            </a:pPr>
            <a:r>
              <a:t>Review execution.</a:t>
            </a:r>
            <a:br/>
            <a:r>
              <a:t>Capture learnings.</a:t>
            </a:r>
            <a:br/>
            <a:r>
              <a:t>Suggest improvements.</a:t>
            </a:r>
            <a:br/>
            <a:r>
              <a:t>→ reflection.md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95560" y="3566160"/>
            <a:ext cx="1645920" cy="384048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35935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Optional for trivial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" y="4206240"/>
            <a:ext cx="11887200" cy="23774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297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Context Loading — Before Every 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6177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Before starting any task, the AI loads and reviews: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PROJECT.md      — What: tech stack, commands, directory structure, architecture patterns, deployment instructions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CONVENTIONS.md  — How: naming conventions, import ordering, code organization, type safety, error handling, testing standards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BOUNDARIES.md   — Don't: forbidden actions, scope rules, sensitive data protection, code integrity, approval gate enforcement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These 3 pillars are the primary source of truth. They define what the AI can do, how it should do it, and what it must never 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Phases 1-3: Think Before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Scratchpad, Plan, and Tasks — the "no code" phases where all thinking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SCRATCHPAD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3736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NO code or plans in this phase.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Read PROJECT.md, CONVENTIONS.md, BOUNDARIES.md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Analyze the codebase relevant to the task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Understand the problem deeply — gather all context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Define scope, architecture invariants, risks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Identify open questions and assumptions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Output: SCRATCHPAD.md → Review →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212080"/>
            <a:ext cx="3017520" cy="45720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3951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🛑 HARD STOP — GATE 1</a:t>
            </a:r>
            <a:br/>
            <a:r>
              <a:t>WAIT for explicit 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73736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8288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Scratchpad must be APPROVED before starting.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NO code or task lists in this phase.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Define architecture changes, modules affected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Risk analysis, edge cases, validation strategy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Explicit non-goals — what we are NOT doing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If plan contradicts scratchpad → STOP, update first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Output: PLAN.md → Review →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212080"/>
            <a:ext cx="3017520" cy="45720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23951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🛑 HARD STOP — GATE 2</a:t>
            </a:r>
            <a:br/>
            <a:r>
              <a:t>WAIT for explicit APPROVE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8288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Plan must be APPROVED before starting.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NO code in this phase — still thinking!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Break plan into ordered implementation steps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Files to create, modify, or delete per step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Dependencies between steps clearly marked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Expected output defined for each step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Output: TASKS.md → Review → APPROVE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5212080"/>
            <a:ext cx="3017520" cy="45720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523951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🛑 HARD STOP — GATE 3</a:t>
            </a:r>
            <a:br/>
            <a:r>
              <a:t>WAIT for explicit APPROVE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943600"/>
            <a:ext cx="11612880" cy="6400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Dev Checklist: Before coding, ask — Scratchpad? Approved? Plan? Approved? Tasks? Approved? If any answer is NO → STOP. Do not write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Phases 4-6: Execute, Verify,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Implementation, testing, and reflection — where code gets written and quality is proven.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4: IMPLEMENT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373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Tasks must be APPROVED before writing any code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Implement one task at a time in defined order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Follow scratchpad invariants strictly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Match existing code style and conventions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If decision changes → update scratchpad FIRST → re-approve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No scope creep. No unrelated refactoring.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Files written ONCE per task — re-read before re-writing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5: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373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288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Run all relevant tests for the changes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Run lint and type checks — must pass cleanly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Verify behavior matches scratchpad objective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Generate or update tests as needed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If something deviates: explain why, propose update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Check logs and metrics if applicable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Tests verify BEHAVIOR, not implementation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657600" cy="457200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161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6: REFLECT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8288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Review execution quality vs the plan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Note unexpected complexities or deviations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Capture learnings for future reference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Suggest workflow or convention improvements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Mandatory for multi-file &amp; architecture changes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Optional for trivial tasks (single file, simple fix)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Output: reflection.md with insights &amp; suggestions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Approval Gates: 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Four mandatory checkpoints where the AI MUST stop and wait for explicit human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" cy="126187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338560" cy="1261872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GATE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Checks: After SCRATCHPAD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325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Review scope, invariants, risks.</a:t>
            </a:r>
            <a:br/>
            <a:r>
              <a:t>Confirm AI understands correctly before</a:t>
            </a:r>
            <a:br/>
            <a:r>
              <a:t>any planning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Artifact:</a:t>
            </a:r>
            <a:br/>
            <a:r>
              <a:t>SCRATCHPAD.md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325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"Please review the scratchpad.</a:t>
            </a:r>
            <a:br/>
            <a:r>
              <a:t>Reply APPROVE to continue."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87752"/>
            <a:ext cx="54864" cy="12618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587752"/>
            <a:ext cx="11338560" cy="1261872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B59B6"/>
                </a:solidFill>
                <a:latin typeface="Calibri"/>
              </a:defRPr>
            </a:pPr>
            <a:r>
              <a:t>GATE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Checks: After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24912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Review architecture decisions, module</a:t>
            </a:r>
            <a:br/>
            <a:r>
              <a:t>changes, risk analysis. Confirm approach</a:t>
            </a:r>
            <a:br/>
            <a:r>
              <a:t>is sound before breaking into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706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Artifact:</a:t>
            </a:r>
            <a:br/>
            <a:r>
              <a:t>PLAN.md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7249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"Please review the plan.</a:t>
            </a:r>
            <a:br/>
            <a:r>
              <a:t>Reply APPROVE to continue."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86784"/>
            <a:ext cx="54864" cy="12618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986784"/>
            <a:ext cx="11338560" cy="1261872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Calibri"/>
              </a:defRPr>
            </a:pPr>
            <a: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52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Checks: After 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23944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Review ordered implementation steps.</a:t>
            </a:r>
            <a:br/>
            <a:r>
              <a:t>Confirm each task is clear, scoped,</a:t>
            </a:r>
            <a:br/>
            <a:r>
              <a:t>and has expected outputs.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6966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Artifact:</a:t>
            </a:r>
            <a:br/>
            <a:r>
              <a:t>TASKS.md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12394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"Please review the tasks.</a:t>
            </a:r>
            <a:br/>
            <a:r>
              <a:t>Reply APPROVE to continue."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85816"/>
            <a:ext cx="54864" cy="12618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385816"/>
            <a:ext cx="11338560" cy="1261872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58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Calibri"/>
              </a:defRPr>
            </a:pPr>
            <a:r>
              <a:t>GATE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515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Checks: After IMPLEMENT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522976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Review completed code. Verify it matches</a:t>
            </a:r>
            <a:br/>
            <a:r>
              <a:t>the plan and passes quality checks before</a:t>
            </a:r>
            <a:br/>
            <a:r>
              <a:t>final testing.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56869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Artifact:</a:t>
            </a:r>
            <a:br/>
            <a:r>
              <a:t>Completed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522976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F0F1"/>
                </a:solidFill>
                <a:latin typeface="Calibri"/>
              </a:defRPr>
            </a:pPr>
            <a:r>
              <a:t>"Implementation complete.</a:t>
            </a:r>
            <a:br/>
            <a:r>
              <a:t>Please review before final testing."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Additional triggers: Architecture decisions | Breaking changes | New dependencies | Plan changes mid-execution → ALL require re-approval.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Contract-First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Design ALL contracts before writing ANY code. Contracts are the source of truth — code conforms to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88720"/>
            <a:ext cx="3703320" cy="420624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API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700784"/>
            <a:ext cx="3703320" cy="36576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OpenAPI specs for EVERY endpoint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kebab-case paths, plural collections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RFC 7807 standard error responses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Cursor-based pagination (not offset)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URL-path versioning (/v1/)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Rate limiting per-client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188720"/>
            <a:ext cx="3703320" cy="420624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2161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Event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00784"/>
            <a:ext cx="3703320" cy="36576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830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Standard event envelope schema: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{type, schemaVersion, source,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correlationId, timestamp, payload}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Topic catalog with partition keys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Outbox pattern for transactional publishing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Inbox pattern for deduplication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Schema evolution: add=OK, remove=major, rename=never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703320" cy="420624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2161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00784"/>
            <a:ext cx="3703320" cy="3657600"/>
          </a:xfrm>
          <a:prstGeom prst="roundRect">
            <a:avLst>
              <a:gd name="adj" fmla="val 3000"/>
            </a:avLst>
          </a:prstGeom>
          <a:solidFill>
            <a:srgbClr val="15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ER diagrams with index strategy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Storage type per service (PG, Redis, S3)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Connection pooling strategy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1yr and 3yr storage projections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Database-per-service — no cross-service JOINs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Numbered migrations, never edit existing 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5577840"/>
            <a:ext cx="6858000" cy="1005840"/>
          </a:xfrm>
          <a:prstGeom prst="roundRect">
            <a:avLst>
              <a:gd name="adj" fmla="val 3000"/>
            </a:avLst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2356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BENEFITS: Prevents #1 production issue (inconsistent APIs)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Enables parallel development  |  Contracts serve as living documentation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API consumers can start integration before backend is 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577840"/>
            <a:ext cx="4572000" cy="100584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56235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COMMON MISTAKES: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Code-first APIs → inconsistent contracts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Offset pagination → degrades at page 1000+</a:t>
            </a:r>
          </a:p>
          <a:p>
            <a:pPr>
              <a:spcAft>
                <a:spcPts val="200"/>
              </a:spcAft>
              <a:defRPr sz="1100">
                <a:solidFill>
                  <a:srgbClr val="ECF0F1"/>
                </a:solidFill>
                <a:latin typeface="Calibri"/>
              </a:defRPr>
            </a:pPr>
            <a:r>
              <a:t>  No event versioning → silently breaking consumers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Vertical Slice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Prove ONE complete flow works end-to-end before building all services horizontally.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5577840" cy="457200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HORIZONTAL BUILD  (DON'T)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5212080" cy="41148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  All APIs built first    All Services built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5212080" cy="411480"/>
          </a:xfrm>
          <a:prstGeom prst="roundRect">
            <a:avLst>
              <a:gd name="adj" fmla="val 3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  All Databases built     All Events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74C3C"/>
                </a:solidFill>
                <a:latin typeface="Calibri"/>
              </a:defRPr>
            </a:pPr>
            <a:r>
              <a:t>Nothing works end-to-end.</a:t>
            </a:r>
            <a:br/>
            <a:r>
              <a:t>Integration issues discovered</a:t>
            </a:r>
            <a:br/>
            <a:r>
              <a:t>only when everything is wired.</a:t>
            </a:r>
            <a:br/>
            <a:r>
              <a:t>Late discoveries = expensive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77840" cy="45720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VERTICAL SLICE  (DO THIS)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5212080" cy="411480"/>
          </a:xfrm>
          <a:prstGeom prst="roundRect">
            <a:avLst>
              <a:gd name="adj" fmla="val 3000"/>
            </a:avLst>
          </a:prstGeom>
          <a:solidFill>
            <a:srgbClr val="1A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  One API    One Service    One Database    One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One complete flow works</a:t>
            </a:r>
            <a:br/>
            <a:r>
              <a:t>end-to-end: API → Service</a:t>
            </a:r>
            <a:br/>
            <a:r>
              <a:t>→ Database → Event.</a:t>
            </a:r>
            <a:br/>
            <a:r>
              <a:t>Architecture validated early.</a:t>
            </a:r>
            <a:br/>
            <a:r>
              <a:t>Problems found cheaply.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After Vertical Slice Success — Build Tier-by-Tier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2743200" cy="438912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1: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User/Auth, Config, Gateway — shared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2743200" cy="438912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932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2: Core 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1206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Product/Catalog, Inventory, Pricing — domain logic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23559"/>
            <a:ext cx="2743200" cy="438912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8756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3: 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71499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Order, Payment, Cart — revenue-critical 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217920"/>
            <a:ext cx="2743200" cy="438912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819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4: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309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Notifications, Analytics, Admin — operational needs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Safety Boundaries: What the AI Must Never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Hard constraints enforced across all tools and workflows. Non-negotiable.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3444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Scope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Do NOT modify code outside task scope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Do NOT refactor unrelated code while fixing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If &gt; 3 files need changes, verify scope first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Each file written once per task — re-read before re-writing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3444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075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Destructive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3736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rm -rf or destructive commands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git push or git reset --hard without approval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modify build outputs or node_modules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modify dependency lock files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075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Sensitive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read .env or environment variable files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read secrets, credentials, or API keys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read infrastructure secrets (Terraform state)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expose secrets in code, logs, or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93192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97764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0507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Code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3484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mix editing strategies on same file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wipe entire files — edit section by section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If file changes externally, re-read before writing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Read all related files first, then write one by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93192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397764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0507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Approval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3484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skip a human approval gate — CRITICAL failure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generate SCRATCHPAD + PLAN together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generate PLAN + TASKS together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write code before TASKS are approved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931920"/>
            <a:ext cx="3703320" cy="246888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3977640"/>
            <a:ext cx="3611880" cy="347472"/>
          </a:xfrm>
          <a:prstGeom prst="roundRect">
            <a:avLst>
              <a:gd name="adj" fmla="val 3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0507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Doc tools: for external library documentation only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Analysis tools: symbols only, not broad text search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Repo tools: PR management, code review, issue tracking</a:t>
            </a:r>
          </a:p>
          <a:p>
            <a:pPr>
              <a:spcAft>
                <a:spcPts val="200"/>
              </a:spcAft>
              <a:defRPr sz="1000">
                <a:solidFill>
                  <a:srgbClr val="ECF0F1"/>
                </a:solidFill>
                <a:latin typeface="Calibri"/>
              </a:defRPr>
            </a:pPr>
            <a:r>
              <a:t>  Never commit secrets through any tool or integration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Common Mistakes &amp;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What to avoid at each stage of the agentic development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887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4864" cy="7772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Scratchpad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234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Jumping straight to code without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234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Skipping context file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234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Not defining explicit invariants and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21031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103120"/>
            <a:ext cx="54864" cy="777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148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Plan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Vague plans without specific files or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No edge case or risk analysis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Plans that ignore scratchpad invariants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14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0175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017520"/>
            <a:ext cx="54864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Tasks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632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Tasks too large to verify independently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0632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Missing dependencies between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0632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No expected output defined per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9319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931920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977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Execute Phase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9776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Scope creep — adding unapproved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9776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Mixing refactoring with feature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9776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Ignoring existing code style conventions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343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48463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4846320"/>
            <a:ext cx="54864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892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Verify Phase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Skipping tests because "it works locally"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Not checking for regressions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Ignoring lint and type check failures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257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" y="5760720"/>
            <a:ext cx="11704320" cy="7772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5760720"/>
            <a:ext cx="54864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Reflect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806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Skipping reflection entirely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806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Not capturing learnings for future reuse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806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✗ Same mistakes repeated across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Calibri"/>
              </a:defRPr>
            </a:pPr>
            <a:r>
              <a:t>Correct approach: Follow phase rules strictly. Approval gates exist to prevent exactly these mistakes. When in doubt, STOP and request approval.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Getting Started with Agentic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Your first steps into AI-assisted software engineering.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243584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9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43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Set Up 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Install via curl/winget/brew. Run claude login. Explore the CLI and VS Code extension.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" y="2029968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756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29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4086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Write your project constitution: tech stack, coding standards, common commands, architecture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706624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" y="2816352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620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163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Learn the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7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For any task: scratchpad first (think), plan second (design), tasks third (break down), get approval at each gate.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93008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5760" y="3602736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484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027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Build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13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Create .claude/skills/ for repeatable workflows: /deploy, /review-pr, /commit. Share with team via version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79392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" y="438912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Connect MCP 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00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Connect to GitHub, Jira, databases, monitoring tools. Let Claude read and act on your tools directly.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065776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5760" y="5175504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2212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Sub-agents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Define custom agents for recurring tasks: code-reviewer, test-runner, security-auditor. Use /agents command.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852160"/>
            <a:ext cx="10972800" cy="9144"/>
          </a:xfrm>
          <a:prstGeom prst="rect">
            <a:avLst/>
          </a:prstGeom>
          <a:solidFill>
            <a:srgbClr val="35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5760" y="5961888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0076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61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Automate &amp; Evolve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2727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  <a:latin typeface="Calibri"/>
              </a:defRPr>
            </a:pPr>
            <a:r>
              <a:t>Set up CI/CD integration. Create routines for scheduled tasks. Review and refine your setup regularly.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Mental Models for Agentic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How to think when collaborating with AI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1612880" cy="10058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Operating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98DB"/>
                </a:solidFill>
                <a:latin typeface="Calibri"/>
              </a:defRPr>
            </a:pPr>
            <a:r>
              <a:t>Plan → Review → Execute → Verify → Reflect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Before coding, ask: Approved scratchpad? Approved plan? Approved tasks? If any NO — STOP. Code is the last step, never the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40280"/>
            <a:ext cx="11612880" cy="10058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54864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Discovery Triangle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328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98DB"/>
                </a:solidFill>
                <a:latin typeface="Calibri"/>
              </a:defRPr>
            </a:pPr>
            <a:r>
              <a:t>WHAT (Problem) ← WHO (Users) → WHY (Value) → HOW BAD (Risks)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Every decision traces to this triangle. What problem? For whom? Why does it matter? What can go wrong? Understand before building.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11612880" cy="10058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Iceberg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98DB"/>
                </a:solidFill>
                <a:latin typeface="Calibri"/>
              </a:defRPr>
            </a:pPr>
            <a:r>
              <a:t>Visible: 10% (APIs) | Below: 90% (Domain, Security, Data, Failures)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Users see only the API surface. But 90% of thinking happens below — domain models, security architecture, data ownership, failure modes.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526280"/>
            <a:ext cx="11612880" cy="10058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52628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Infinity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188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98DB"/>
                </a:solidFill>
                <a:latin typeface="Calibri"/>
              </a:defRPr>
            </a:pPr>
            <a:r>
              <a:t>BUILD (Design→Build→Test→Deploy) ↔ OPERATE (Monitor→Detect→Respond→Learn) ↔ 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The system is never "done." It enters a continuous cycle: operate → learn → improve → build. Each iteration improves both the system and the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669280"/>
            <a:ext cx="11612880" cy="10058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66928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Pyramid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618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98DB"/>
                </a:solidFill>
                <a:latin typeface="Calibri"/>
              </a:defRPr>
            </a:pPr>
            <a:r>
              <a:t>Bottom: Dev Env → Core Libs → Testing → Top: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  <a:latin typeface="Calibri"/>
              </a:defRPr>
            </a:pPr>
            <a:r>
              <a:t>Build bottom-up. The dev environment enables everything. Core libraries save 10x time across services. Testing validates every layer.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What to remember from this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8872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98DB"/>
                </a:solidFill>
                <a:latin typeface="Calibri"/>
              </a:defRPr>
            </a:pPr>
            <a:r>
              <a:t>Claude Code is Your</a:t>
            </a:r>
            <a:br/>
            <a:r>
              <a:t>Engineering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Skills, commands, MCP, sub-agents, hooks, and plugins make it a full development platform — not just a chatbot.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AE60"/>
                </a:solidFill>
                <a:latin typeface="Calibri"/>
              </a:defRPr>
            </a:pPr>
            <a:r>
              <a:t>Think First,</a:t>
            </a:r>
            <a:br/>
            <a:r>
              <a:t>Code Last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Scratchpad → Plan → Tasks → Execute → Verify → Reflect. The 6-phase workflow ensures quality and prevents scope creep.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9844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67E22"/>
                </a:solidFill>
                <a:latin typeface="Calibri"/>
              </a:defRPr>
            </a:pPr>
            <a:r>
              <a:t>Human-in-the-Loop</a:t>
            </a:r>
            <a:br/>
            <a:r>
              <a:t>is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Four approval gates. Explicit "APPROVE" required at each. AI executes — humans decide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88620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959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B59B6"/>
                </a:solidFill>
                <a:latin typeface="Calibri"/>
              </a:defRPr>
            </a:pPr>
            <a:r>
              <a:t>Contracts Define</a:t>
            </a:r>
            <a:br/>
            <a:r>
              <a:t>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98348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Design API specs, event schemas, and data models BEFORE code. Code conforms to contracts — not the other way around.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88620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9959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74C3C"/>
                </a:solidFill>
                <a:latin typeface="Calibri"/>
              </a:defRPr>
            </a:pPr>
            <a:r>
              <a:t>Vertical Slice</a:t>
            </a:r>
            <a:br/>
            <a:r>
              <a:t>Before Horizontal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8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Prove ONE complete flow end-to-end first. Then expand tier-by-tier. Architecture flaws are cheaper to catch early.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86200"/>
            <a:ext cx="3703320" cy="242316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959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Calibri"/>
              </a:defRPr>
            </a:pPr>
            <a:r>
              <a:t>Continuous</a:t>
            </a:r>
            <a:br/>
            <a:r>
              <a:t>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8348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  <a:latin typeface="Calibri"/>
              </a:defRPr>
            </a:pPr>
            <a:r>
              <a:t>The Reflect phase ensures every session makes the next one better. Capture learnings. Update conventions. Evolve the workflow.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CF0F1"/>
                </a:solidFill>
                <a:latin typeface="Calibri"/>
              </a:defRPr>
            </a:pPr>
            <a:r>
              <a:t>The future of software development is agentic.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5A5A6"/>
                </a:solidFill>
                <a:latin typeface="Calibri"/>
              </a:defRPr>
            </a:pPr>
            <a:r>
              <a:t>Claude Code is your engineering team. You are the architect.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0789920" cy="1463040"/>
          </a:xfrm>
          <a:prstGeom prst="roundRect">
            <a:avLst>
              <a:gd name="adj" fmla="val 3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Start today:</a:t>
            </a:r>
          </a:p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Install: curl -fsSL https://claude.ai/install.sh | bash</a:t>
            </a:r>
          </a:p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Learn: docs.anthropic.com/en/docs/claude-code/overview</a:t>
            </a:r>
          </a:p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Build: Create your CLAUDE.md, skills, and first agentic workflow</a:t>
            </a:r>
          </a:p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Connect: Add MCP servers for GitHub, Jira, databases, and more</a:t>
            </a:r>
          </a:p>
          <a:p>
            <a:pPr>
              <a:spcAft>
                <a:spcPts val="200"/>
              </a:spcAft>
              <a:defRPr sz="1300">
                <a:solidFill>
                  <a:srgbClr val="ECF0F1"/>
                </a:solidFill>
                <a:latin typeface="Calibri"/>
              </a:defRPr>
            </a:pPr>
            <a:r>
              <a:t>  • Evolve: Review, reflect, and improve — the cycle never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98DB"/>
                </a:solidFill>
                <a:latin typeface="Calibri"/>
              </a:defRPr>
            </a:pPr>
            <a:r>
              <a:t>code.claude.com  |  docs.anthropic.com  |  github.com/modelcontextprotocol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