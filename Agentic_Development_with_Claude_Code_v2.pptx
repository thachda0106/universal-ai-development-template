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54864" cy="6812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AGENTIC DEVELOPMENT</a:t>
            </a:r>
            <a:br/>
            <a:r>
              <a:t>WITH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0">
                <a:solidFill>
                  <a:srgbClr val="3B82F6"/>
                </a:solidFill>
                <a:latin typeface="Calibri"/>
              </a:defRPr>
            </a:pPr>
            <a:r>
              <a:t>From AI Assistant to AI Engineering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40"/>
            <a:ext cx="118872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A comprehensive guide for developers mastering AI-assisted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Claude Code + Agentic Workflow = The New SDLC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051560"/>
            <a:ext cx="11475720" cy="26060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6128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14300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Claude Code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444752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Skills, Commands, MCP, Sub-agents, Context, Memory, Hooks, Plugins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830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Skills System — Custom SKILL.md files &amp; bundled skills for repeatable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Commands — Built-in slash commands &amp; bundled skill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2860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MCP Protocol — Connect 300+ external tools &amp; APIs via Model Context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Sub-agents — Explore, Plan, General-purpose &amp; custom delegation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7889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Context &amp; Memory — CLAUDE.md, auto-memory, context management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889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Hooks &amp; Plugins — Customize behavior and extend capabilities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840480"/>
            <a:ext cx="11475720" cy="26060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3192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Agentic Development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233672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6-phase mandatory lifecycle with human approval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5720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5-Phase Operating Model — Plan, Review, Execute, Verify, Reflect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720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6-Phase Detailed Workflow — Scratchpad through Reflect with gates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0749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Approval Gates — Human-in-the-loop at every phase (HARD STOP)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749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Contract-First Design — API specs, event schemas, data models BEFORE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5778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Vertical Slice Strategy — Prove 1 flow E2E before building all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5778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  Safety Boundaries — What the AI must never do — non-negotiable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is Claude Code?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An agentic coding tool that reads your codebase, edits files, runs commands, and integrates with your dev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25880"/>
            <a:ext cx="2194560" cy="16916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192024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Context-Aware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10512"/>
            <a:ext cx="2011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Reads entire project</a:t>
            </a:r>
            <a:br/>
            <a:r>
              <a:t>structure, docs,</a:t>
            </a:r>
            <a:br/>
            <a:r>
              <a:t>conventions, and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1325880"/>
            <a:ext cx="2194560" cy="16916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199" y="1371600"/>
            <a:ext cx="1920240" cy="32004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Multi-Surface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1810512"/>
            <a:ext cx="2011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Terminal CLI, VS Code,</a:t>
            </a:r>
            <a:br/>
            <a:r>
              <a:t>JetBrains, Desktop,</a:t>
            </a:r>
            <a:br/>
            <a:r>
              <a:t>Web browser, 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59" y="1325880"/>
            <a:ext cx="2194560" cy="16916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19" y="1371600"/>
            <a:ext cx="1920240" cy="32004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Tool-Rich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1810512"/>
            <a:ext cx="2011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Bash, Read, Write,</a:t>
            </a:r>
            <a:br/>
            <a:r>
              <a:t>Edit, Glob, Grep,</a:t>
            </a:r>
            <a:br/>
            <a:r>
              <a:t>Task, WebFetch, 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79" y="1325880"/>
            <a:ext cx="2194560" cy="16916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39" y="1371600"/>
            <a:ext cx="1920240" cy="32004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1810512"/>
            <a:ext cx="2011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Plans, researches,</a:t>
            </a:r>
            <a:br/>
            <a:r>
              <a:t>writes code, runs tests,</a:t>
            </a:r>
            <a:br/>
            <a:r>
              <a:t>creates commits &amp; PRs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325880"/>
            <a:ext cx="2194560" cy="16916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38360" y="1371600"/>
            <a:ext cx="1920240" cy="32004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Extensible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810512"/>
            <a:ext cx="2011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Skills, Hooks, Plugins,</a:t>
            </a:r>
            <a:br/>
            <a:r>
              <a:t>MCP servers, custom</a:t>
            </a:r>
            <a:br/>
            <a:r>
              <a:t>sub-agents, Agent SDK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246120"/>
            <a:ext cx="11612880" cy="32461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375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Calibri"/>
              </a:defRPr>
            </a:pPr>
            <a:r>
              <a:t>How Claude Code 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03320"/>
            <a:ext cx="2103120" cy="2468880"/>
          </a:xfrm>
          <a:prstGeom prst="roundRect">
            <a:avLst>
              <a:gd name="adj" fmla="val 2500"/>
            </a:avLst>
          </a:prstGeom>
          <a:solidFill>
            <a:srgbClr val="1A2745"/>
          </a:solidFill>
          <a:ln w="1905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749039"/>
            <a:ext cx="1737360" cy="27432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Read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6052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Loads CLAUDE.md, project</a:t>
            </a:r>
            <a:br/>
            <a:r>
              <a:t>settings, MCP servers,</a:t>
            </a:r>
            <a:br/>
            <a:r>
              <a:t>and installed skills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441448" y="4663440"/>
            <a:ext cx="256032" cy="164592"/>
          </a:xfrm>
          <a:prstGeom prst="rightArrow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97480" y="3703320"/>
            <a:ext cx="2103120" cy="2468880"/>
          </a:xfrm>
          <a:prstGeom prst="roundRect">
            <a:avLst>
              <a:gd name="adj" fmla="val 2500"/>
            </a:avLst>
          </a:prstGeom>
          <a:solidFill>
            <a:srgbClr val="1A2745"/>
          </a:solidFill>
          <a:ln w="1905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80360" y="3749039"/>
            <a:ext cx="1737360" cy="27432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Understand 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16052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Analyzes your request</a:t>
            </a:r>
            <a:br/>
            <a:r>
              <a:t>against codebase, context,</a:t>
            </a:r>
            <a:br/>
            <a:r>
              <a:t>and accumulated memory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727448" y="4663440"/>
            <a:ext cx="256032" cy="164592"/>
          </a:xfrm>
          <a:prstGeom prst="rightArrow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83480" y="3703320"/>
            <a:ext cx="2103120" cy="2468880"/>
          </a:xfrm>
          <a:prstGeom prst="roundRect">
            <a:avLst>
              <a:gd name="adj" fmla="val 2500"/>
            </a:avLst>
          </a:prstGeom>
          <a:solidFill>
            <a:srgbClr val="1A2745"/>
          </a:solidFill>
          <a:ln w="1905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66360" y="3749039"/>
            <a:ext cx="1737360" cy="27432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Plan Approach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16052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Creates scratchpad, defines</a:t>
            </a:r>
            <a:br/>
            <a:r>
              <a:t>scope, identifies relevant</a:t>
            </a:r>
            <a:br/>
            <a:r>
              <a:t>files and modules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013448" y="4663440"/>
            <a:ext cx="256032" cy="164592"/>
          </a:xfrm>
          <a:prstGeom prst="rightArrow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269480" y="3703320"/>
            <a:ext cx="2103120" cy="2468880"/>
          </a:xfrm>
          <a:prstGeom prst="roundRect">
            <a:avLst>
              <a:gd name="adj" fmla="val 2500"/>
            </a:avLst>
          </a:prstGeom>
          <a:solidFill>
            <a:srgbClr val="1A2745"/>
          </a:solidFill>
          <a:ln w="1905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52360" y="3749039"/>
            <a:ext cx="1737360" cy="27432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Execute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16052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Reads, writes, edits files,</a:t>
            </a:r>
            <a:br/>
            <a:r>
              <a:t>runs commands, spawns</a:t>
            </a:r>
            <a:br/>
            <a:r>
              <a:t>sub-agents as needed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299448" y="4663440"/>
            <a:ext cx="256032" cy="164592"/>
          </a:xfrm>
          <a:prstGeom prst="rightArrow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555480" y="3703320"/>
            <a:ext cx="2103120" cy="2468880"/>
          </a:xfrm>
          <a:prstGeom prst="roundRect">
            <a:avLst>
              <a:gd name="adj" fmla="val 2500"/>
            </a:avLst>
          </a:prstGeom>
          <a:solidFill>
            <a:srgbClr val="1A2745"/>
          </a:solidFill>
          <a:ln w="1905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38360" y="3749039"/>
            <a:ext cx="1737360" cy="27432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Verify &amp;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416052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Runs tests, lint, type</a:t>
            </a:r>
            <a:br/>
            <a:r>
              <a:t>checks. Reports results</a:t>
            </a:r>
            <a:br/>
            <a:r>
              <a:t>and captures learnings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Claude Code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Create custom SKILL.md files to package repeatable workflows and domain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4434840" cy="54406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Skill Anatomy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my-skill/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SKILL.md              (required)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  YAML frontmatter + instructions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template.md           (optional)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  Template for Claude to fill in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examples/             (optional)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  sample.md            Expected output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scripts/              (optional)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  helper.py            Executed scripts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Frontmatter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56232" y="329184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5264" y="329184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when_to_use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arguments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56232" y="356616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disable-model-invocation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5264" y="356616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user-invocable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allowed-tools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56232" y="384048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55264" y="384048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effort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56232" y="411480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55264" y="411480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paths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hooks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56232" y="4389120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shell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074920"/>
            <a:ext cx="4434840" cy="15087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663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Where Skills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4068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Managed settings — all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440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Personal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4406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~/.claude/skills/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4360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94360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.claude/skills/ — shared via git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9436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Plugin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9436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&lt;plugin&gt;/skills/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83480" y="1143000"/>
            <a:ext cx="6903720" cy="19659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6360" y="12344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Reference Content Skill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66360" y="1463040"/>
            <a:ext cx="6400800" cy="1828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5166360" y="155448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---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description: "API design patterns for this codebase"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---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When writing API endpoints: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Use RESTful naming conventions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Return consistent error formats (RFC 7807)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Include request validation on all inputs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Use cursor-based pagination, not offset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Version via URL path: /v1/resource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3337560"/>
            <a:ext cx="6903720" cy="1874519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60" y="34290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Task Content Skill (with /deploy example)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66360" y="3657600"/>
            <a:ext cx="6400800" cy="18288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5166360" y="3749039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---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name: deploy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description: Deploy the application to production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disable-model-invocation: true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allowed-tools: Bash(git *) Bash(npm *)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---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Deploy $ARGUMENTS to production: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1. Run the test suite    2. Build the application</a:t>
            </a:r>
          </a:p>
          <a:p>
            <a:pPr>
              <a:spcBef>
                <a:spcPts val="150"/>
              </a:spcBef>
              <a:spcAft>
                <a:spcPts val="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3. Push to deployment    4. Verify deployment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83480" y="5440680"/>
            <a:ext cx="6903720" cy="114300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60" y="55321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576072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Dynamic 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76072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!`cmd` injects live shell output into skill content before Claude sees 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603504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Fork Mode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603504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context: fork runs skill in isolated sub-agent (Explore, Plan, custom)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6309359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Invocation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6309359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disable-model-invocation restricts to manual /skill-name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Claude Code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Built-in slash commands and bundled skills. Type / to see everything available in-session.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57607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2286000" cy="29260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Context &amp;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/compact — Summarize conversation, free up context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025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/clear   — Start fresh conversation (old in /resume)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134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/memory  — Edit CLAUDE.md, manage auto-memory entries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24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/init    — Initialize project with CLAUDE.md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352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/context — Visualize current context usage as colored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46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/add-dir — Add directory for file access this session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143000"/>
            <a:ext cx="57607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1234440"/>
            <a:ext cx="2286000" cy="29260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/review          — Review a pull request locally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025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/security-review — Analyze changes for vulnerabilities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134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/batch           — Orchestrate large-scale changes in parallel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24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/debug           — Enable debug logging, troubleshoot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352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/plan            — Enter plan mode for read-only 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46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/diff            — Interactive diff viewer of all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86200"/>
            <a:ext cx="57607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048" y="3977640"/>
            <a:ext cx="2286000" cy="292608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/model       — Switch AI models, adjust reasoning effort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7457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/permissions — Manage tool allow/ask/deny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056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/config      — Open settings (theme, model, output style)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367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/mcp         — Manage MCP server connections and OAuth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6784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/hooks       — View and configure lifecycle hook 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/agents      — Create and manage sub-agent definitions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886200"/>
            <a:ext cx="57607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73368" y="3977640"/>
            <a:ext cx="2286000" cy="292608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Workflow &amp;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/schedule — Create routines on Anthropic 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457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/loop     — Run prompt repeatedly at specified intervals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056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/resume   — Resume a conversation by session ID or 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367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/rewind   — Rewind conversation and/or code to a checkpoint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784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/export   — Export current conversation as plain 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/recap    — Generate a one-line summary of current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MCP — Model Context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Connect Claude Code to hundreds of external tools, databases, and APIs through an open standard.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5257800" cy="28346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What You Can Do with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Implement features from Jira issues, create PRs on GitHub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Analyze Sentry errors, query PostgreSQL databases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Upload designs from Figma, read docs from Google Drive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Create Gmail drafts, update tickets, pull Slack data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Connect 300+ servers: Notion, Asana, Stripe, Airtable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Build custom MCP servers with the MCP SDK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"Connect a server when you find yourself copying data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into chat from another tool or service."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143000"/>
            <a:ext cx="6080760" cy="1325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2344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Installation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536192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HTTP (recommended):   claude mcp add --transport http &lt;name&gt; &lt;url&gt;</a:t>
            </a:r>
          </a:p>
          <a:p>
            <a:pPr>
              <a:spcBef>
                <a:spcPts val="150"/>
              </a:spcBef>
              <a:spcAft>
                <a:spcPts val="1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Stdio (local process): claude mcp add --transport stdio &lt;name&gt; -- &lt;cmd&gt;</a:t>
            </a:r>
          </a:p>
          <a:p>
            <a:pPr>
              <a:spcBef>
                <a:spcPts val="150"/>
              </a:spcBef>
              <a:spcAft>
                <a:spcPts val="1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JSON import:           claude mcp add-json &lt;name&gt; '&lt;json&gt;'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697480"/>
            <a:ext cx="6080760" cy="12801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2788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Installation Scopes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090672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Local    — Current project only (private, stored in ~/.claude.json)</a:t>
            </a:r>
          </a:p>
          <a:p>
            <a:pPr>
              <a:spcBef>
                <a:spcPts val="150"/>
              </a:spcBef>
              <a:spcAft>
                <a:spcPts val="1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Project  — .mcp.json in project root (team-shared via version control)</a:t>
            </a:r>
          </a:p>
          <a:p>
            <a:pPr>
              <a:spcBef>
                <a:spcPts val="150"/>
              </a:spcBef>
              <a:spcAft>
                <a:spcPts val="1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User     — All your projects (private, stored in ~/.claude.json)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251960"/>
            <a:ext cx="11612880" cy="23317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434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E5B70B"/>
                </a:solidFill>
                <a:latin typeface="Calibri"/>
              </a:defRPr>
            </a:pPr>
            <a:r>
              <a:t>Key MCP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1280160" cy="237744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Tool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017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Only tool names load at session start. Schemas deferred until needed — minimal context impact.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709160"/>
            <a:ext cx="1280160" cy="237744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OAuth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0017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Secure authentication. Tokens stored in system keychain, refreshed automatically.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709160"/>
            <a:ext cx="1280160" cy="237744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Dynamic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0017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list_changed notifications update tools/prompts without disconnect/reconnect.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77840"/>
            <a:ext cx="1280160" cy="237744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MCP 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7044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@-mention server resources. Auto-fetched and included as message attachments.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5577840"/>
            <a:ext cx="1280160" cy="237744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87044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Servers push messages into session — react to CI results, alerts, chat messages.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577840"/>
            <a:ext cx="1280160" cy="237744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Managed 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87044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Enterprise: managed-mcp.json for fixed server sets + allowlist/denylist policy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Sub-agents &amp; Agent Delegation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Spawn specialized AI assistants for specific tasks. Preserve context by isolating verbose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143000"/>
            <a:ext cx="2743200" cy="32461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Read-only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74519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Model: Haiku (fast)</a:t>
            </a:r>
            <a:br/>
            <a:r>
              <a:t>Tools: Glob, Grep, 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377440"/>
            <a:ext cx="2560320" cy="1828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20040" y="251460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File discovery, code search,</a:t>
            </a:r>
            <a:br/>
            <a:r>
              <a:t>codebase exploration.</a:t>
            </a:r>
            <a:br/>
            <a:r>
              <a:t>Keeps search results</a:t>
            </a:r>
            <a:br/>
            <a:r>
              <a:t>out of main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1143000"/>
            <a:ext cx="2743200" cy="32461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55848" y="1188720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64592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Research for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1874519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Model: Inherits</a:t>
            </a:r>
            <a:br/>
            <a:r>
              <a:t>Tools: Read-only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4408" y="2377440"/>
            <a:ext cx="2560320" cy="1828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264408" y="251460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Plan-mode research.</a:t>
            </a:r>
            <a:br/>
            <a:r>
              <a:t>Gathers context before</a:t>
            </a:r>
            <a:br/>
            <a:r>
              <a:t>presenting an</a:t>
            </a:r>
            <a:br/>
            <a:r>
              <a:t>implementation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1143000"/>
            <a:ext cx="2743200" cy="32461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0216" y="1188720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General-purpose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164592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Full-capability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1874519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Model: Inherits</a:t>
            </a:r>
            <a:br/>
            <a:r>
              <a:t>Tools: All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2377440"/>
            <a:ext cx="2560320" cy="18288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208776" y="251460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Complex multi-step tasks</a:t>
            </a:r>
            <a:br/>
            <a:r>
              <a:t>needing both exploration</a:t>
            </a:r>
            <a:br/>
            <a:r>
              <a:t>and modification.</a:t>
            </a:r>
            <a:br/>
            <a:r>
              <a:t>Most flexible built-in.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704" y="1143000"/>
            <a:ext cx="2743200" cy="32461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44584" y="1188720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164592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Your own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874519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Model: Any</a:t>
            </a:r>
            <a:br/>
            <a:r>
              <a:t>Tools: You define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53144" y="2377440"/>
            <a:ext cx="2560320" cy="18288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53144" y="251460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Create via /agents or</a:t>
            </a:r>
            <a:br/>
            <a:r>
              <a:t>.claude/agents/*.md.</a:t>
            </a:r>
            <a:br/>
            <a:r>
              <a:t>Custom prompt, tools,</a:t>
            </a:r>
            <a:br/>
            <a:r>
              <a:t>model, permissions.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4663440"/>
            <a:ext cx="5486400" cy="19202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75488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Custom Agent Configuration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2920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Key fields: name, description, tools, disallowedTools,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model, permissionMode, maxTurns, skills, mcpServers,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hooks, memory, background, effort, isolation, color,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initialPrompt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Locations: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  .claude/agents/  — Project (shared via git)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  ~/.claude/agents/ — Personal (all projects)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  --agents flag    — CLI session only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4663440"/>
            <a:ext cx="5897880" cy="19202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75488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Common Delegation Patterns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2920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Isolate high-volume ops — tests, logs, file searches stay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in sub-agent; only the summary returns to main context.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Parallel research — spawn multiple agents exploring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different modules simultaneously, then synthesize.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Chain sub-agents — reviewer finds issues → fixer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implements → tester verifies. Focused scope per agent.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Fork mode — sub-agent inherits full conversation context,</a:t>
            </a:r>
          </a:p>
          <a:p>
            <a:pPr>
              <a:spcBef>
                <a:spcPts val="135"/>
              </a:spcBef>
              <a:spcAft>
                <a:spcPts val="89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works on side task while you continue in main session.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Context &amp; Memory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How Claude Code understands your project and remembers across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5715000" cy="33832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CLAUDE.md — Your Project Constitution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The primary way to teach Claude about your project.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Claude reads CLAUDE.md at the start of EVERY session.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to include: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Coding standards and architecture decisions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Preferred libraries, frameworks, and tools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Common commands (build, test, lint, deploy)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Key patterns, naming conventions, import rules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Review checklists and security requirements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Path-specific rules for monorepos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Locations (merged in priority order):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./CLAUDE.md         — Project root (check into git)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.claude/CLAUDE.md   — Same as root, alternate location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~/.claude/CLAUDE.md — Personal (all your projects)</a:t>
            </a:r>
          </a:p>
          <a:p>
            <a:pPr>
              <a:spcBef>
                <a:spcPts val="150"/>
              </a:spcBef>
              <a:spcAft>
                <a:spcPts val="6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Managed settings    — Enterprise-wide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623560" cy="15544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Auto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Claude builds auto-memory as it works — saving learnings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like build commands, debugging insights, and project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patterns across sessions without you writing anything.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Manage with /memory. Enable/disable per project.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Auto-memory entries survive conversation compaction.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880360"/>
            <a:ext cx="5623560" cy="16459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97180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Context Management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461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/compact  — Summarize conversation, free context space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/context  — Visualize context usage as colored grid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/add-dir  — Add directory for file access this session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/clear    — Start fresh (old session in /resume)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Auto-compaction triggers at ~95% context capacity.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Preserves rules, skills, and recent messages across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compaction boundaries for continuity.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754880"/>
            <a:ext cx="11612880" cy="182880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E5B70B"/>
                </a:solidFill>
                <a:latin typeface="Calibri"/>
              </a:defRPr>
            </a:pPr>
            <a:r>
              <a:t>Memory &amp; Context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20640"/>
            <a:ext cx="1645920" cy="18288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System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1206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Base instructions every session — persona, safety rules, tool usage.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49240"/>
            <a:ext cx="1645920" cy="18288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CLAUDE.md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349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Project root, user home, managed — merged in priority order at session start.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1645920" cy="18288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Auto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5778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Cross-session learnings: build commands, debugging insights, project patterns.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806440"/>
            <a:ext cx="1645920" cy="18288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Sub-agent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8064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Custom agents get persistent memory dirs (user/project/local) for learning.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35040"/>
            <a:ext cx="1645920" cy="18288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Skills &amp; Commands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60350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Inspected at startup, content loaded only on invocation. Near-zero idle cost.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263640"/>
            <a:ext cx="1645920" cy="18288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MCP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62636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Deferred via Tool Search — only actually-used tools enter the context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Hooks, Plugins &amp;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Customize Claude Code behavior, extend capabilities, and automate recurring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3749039" cy="4754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3200400" cy="347472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3383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Lifecycle Automation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PreToolUse — Validate before run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PostToolUse — React after execution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Notification — Desktop alerts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SubagentStart / SubagentStop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Elicitation — Handle MCP dialogs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Examples: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Auto-format after every file edit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Run linter before git commits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Block destructive operations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Validate SQL queries as read-only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Send Slack notification on deploy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143000"/>
            <a:ext cx="3749039" cy="4754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79" y="1188720"/>
            <a:ext cx="3200400" cy="347472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691640"/>
            <a:ext cx="3383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Share &amp; Distribute Extensions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A plugin can bundle all of: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Skills (SKILL.md files)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MCP servers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Sub-agents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Hooks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CLAUDE.md fragments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Install via /plugin command.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Manage: enable, disable, update.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Team: share via managed settings.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Build custom plugins for your org.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43000"/>
            <a:ext cx="3749039" cy="4754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1188720"/>
            <a:ext cx="3200400" cy="347472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691640"/>
            <a:ext cx="3383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Run Claude on a Schedule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Routines: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Run on Anthropic infrastructure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Trigger: schedule, API, GitHub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Continue even when your PC is off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Desktop Scheduled Tasks: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Run on your local machine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• Direct filesystem access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/loop  — Repeat within CLI session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/schedule — Create &amp; manage routines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6126480"/>
            <a:ext cx="11612880" cy="5029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Also: GitHub Actions CI/CD  |  Slack @Claude Integration  |  Chrome Browser Extension  |  Remote Control (phone/browser)  |  Agent SDK  |  Agent Teams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Best Practices for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Patterns that maximize effectiveness and minimize friction.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11612880" cy="9601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3017520" cy="22860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Write Effective 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Keep it concise — every line costs context tokens every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508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State facts, not narratives: "We use PostgreSQL" not backstory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46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Include common commands: build, test, lint, deploy, migrate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46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Use path-specific rules for monorepos: **/frontend/** scoped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240280"/>
            <a:ext cx="11612880" cy="9601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2331720"/>
            <a:ext cx="3017520" cy="22860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Craft Good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Be specific: "Add validation to POST /users" not "improve API"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Provide context: reference files, error messages, expected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89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Break large tasks into smaller, focused, independently-verifiable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889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Use @ mentions to reference files and sub-agents for precision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383280"/>
            <a:ext cx="11612880" cy="9601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3474720"/>
            <a:ext cx="3017520" cy="22860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Manage Context Wisely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94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/compact when conversation grows — preserves key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94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Delegate verbose operations to sub-agents (test runs, log analysis)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32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/context visualizes what is consuming your context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032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/clear when context is stale; old sessions available via /resume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6280"/>
            <a:ext cx="11612880" cy="9601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" y="4617720"/>
            <a:ext cx="3017520" cy="22860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Leverage Sub-agents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Create custom sub-agents for recurring task types in your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937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Explore agent for codebase research — isolates search from main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75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Run independent research in parallel with multiple sub-agents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175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Chain: reviewer finds issues → fixer implements → tester verifies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669280"/>
            <a:ext cx="11612880" cy="9601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" y="5760720"/>
            <a:ext cx="3017520" cy="22860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Build in the Open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80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Commit early and often — Claude works best with git history available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6080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Use /review for pre-merge code review, /security-review for vulns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18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Share CLAUDE.md and skills via version control for team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6318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  Project-scoped MCP (.mcp.json) for shared team tool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54864" cy="6812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The Agentic Development</a:t>
            </a:r>
            <a:br/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Calibri"/>
              </a:defRPr>
            </a:pPr>
            <a:r>
              <a:t>Think first. Plan second. Code last. Always.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Agentic Development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Traditional SDLC replaced by systematic AI-human collaboration with mandatory approval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212080" cy="384048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TRADITIONAL SDLC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00200"/>
            <a:ext cx="5577840" cy="457200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Plan → Design → Code → Test → Deploy → Maintain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Linear, sequential phases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Long feedback loops (weeks or months)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Human writes all code from scratch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Reviews happen AFTER code is written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Testing is a late-phase activity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Documentation often stale or missing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Single developer mindset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  "I build everything myself"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Result: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Slow delivery, error-prone,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hard to course-correct mid-project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38404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AGENTIC DEVELOPMENT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577840" cy="457200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Scratchpad → Plan → Tasks → Execute → Verify → Reflect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Cyclic, iterative process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Fast feedback (minutes or hours)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AI generates code; human reviews &amp; guides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Architecture review BEFORE any code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Tests written alongside code, always verified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Documentation-first: contracts define all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• Multi-agent team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  6+ specialized AI personas with boundaries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Result: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Fast delivery, quality-gated,</a:t>
            </a:r>
          </a:p>
          <a:p>
            <a:pPr>
              <a:spcBef>
                <a:spcPts val="165"/>
              </a:spcBef>
              <a:spcAft>
                <a:spcPts val="82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continuously self-improving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23560" y="3108960"/>
            <a:ext cx="54864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8346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97316"/>
                </a:solidFill>
                <a:latin typeface="Calibri"/>
              </a:defRPr>
            </a:pPr>
            <a: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40080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E5B70B"/>
                </a:solidFill>
                <a:latin typeface="Calibri"/>
              </a:defRPr>
            </a:pPr>
            <a:r>
              <a:t>"AI is a collaborator, not a tool. Humans set direction; agents execute."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5-Phase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Every non-trivial task follows this lifecycle. Human approval gates enforce quality and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97280"/>
            <a:ext cx="2194560" cy="777240"/>
          </a:xfrm>
          <a:prstGeom prst="roundRect">
            <a:avLst>
              <a:gd name="adj" fmla="val 2500"/>
            </a:avLst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6128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965960"/>
            <a:ext cx="2194560" cy="17373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01168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Create scratchpad</a:t>
            </a:r>
            <a:br/>
            <a:r>
              <a:t>Analyze codebase</a:t>
            </a:r>
            <a:br/>
            <a:r>
              <a:t>Define scope</a:t>
            </a:r>
            <a:br/>
            <a:r>
              <a:t>Identify invariants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86584" y="1371600"/>
            <a:ext cx="201168" cy="128016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60320" y="1097280"/>
            <a:ext cx="2194560" cy="777240"/>
          </a:xfrm>
          <a:prstGeom prst="roundRect">
            <a:avLst>
              <a:gd name="adj" fmla="val 2500"/>
            </a:avLst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16128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1965960"/>
            <a:ext cx="2194560" cy="17373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01168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HARD STOP</a:t>
            </a:r>
            <a:br/>
            <a:r>
              <a:t>Human reviews</a:t>
            </a:r>
            <a:br/>
            <a:r>
              <a:t>Explicit APPROVE</a:t>
            </a:r>
            <a:br/>
            <a:r>
              <a:t>required to continue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18304" y="1371600"/>
            <a:ext cx="201168" cy="128016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92040" y="1097280"/>
            <a:ext cx="2194560" cy="777240"/>
          </a:xfrm>
          <a:prstGeom prst="roundRect">
            <a:avLst>
              <a:gd name="adj" fmla="val 2500"/>
            </a:avLst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16128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1965960"/>
            <a:ext cx="2194560" cy="17373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01168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Implement the plan</a:t>
            </a:r>
            <a:br/>
            <a:r>
              <a:t>Follow invariants</a:t>
            </a:r>
            <a:br/>
            <a:r>
              <a:t>One task at a time</a:t>
            </a:r>
            <a:br/>
            <a:r>
              <a:t>No scope creep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50024" y="1371600"/>
            <a:ext cx="201168" cy="128016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59" y="1097280"/>
            <a:ext cx="2194560" cy="777240"/>
          </a:xfrm>
          <a:prstGeom prst="roundRect">
            <a:avLst>
              <a:gd name="adj" fmla="val 2500"/>
            </a:avLst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9" y="116128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1965960"/>
            <a:ext cx="2194560" cy="17373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9" y="201168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Run tests</a:t>
            </a:r>
            <a:br/>
            <a:r>
              <a:t>Lint &amp; type check</a:t>
            </a:r>
            <a:br/>
            <a:r>
              <a:t>Confirm behavior</a:t>
            </a:r>
            <a:br/>
            <a:r>
              <a:t>matches objective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81743" y="1371600"/>
            <a:ext cx="201168" cy="128016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55480" y="1097280"/>
            <a:ext cx="2194560" cy="777240"/>
          </a:xfrm>
          <a:prstGeom prst="roundRect">
            <a:avLst>
              <a:gd name="adj" fmla="val 2500"/>
            </a:avLst>
          </a:prstGeom>
          <a:solidFill>
            <a:srgbClr val="E5B7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116128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REFLECT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5480" y="1965960"/>
            <a:ext cx="2194560" cy="17373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201168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Review execution</a:t>
            </a:r>
            <a:br/>
            <a:r>
              <a:t>Capture learnings</a:t>
            </a:r>
            <a:br/>
            <a:r>
              <a:t>Suggest workflow</a:t>
            </a:r>
            <a:br/>
            <a:r>
              <a:t>improvements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3977639"/>
            <a:ext cx="11704320" cy="2606040"/>
          </a:xfrm>
          <a:prstGeom prst="roundRect">
            <a:avLst>
              <a:gd name="adj" fmla="val 2500"/>
            </a:avLst>
          </a:prstGeom>
          <a:solidFill>
            <a:srgbClr val="3B0F0F"/>
          </a:solidFill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06908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GOLDEN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79"/>
              </a:spcBef>
              <a:spcAft>
                <a:spcPts val="15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1. Scratchpad is the SOURCE OF TRUTH. Plans explain HOW. Tasks define WHAT. Code is the LAST step.</a:t>
            </a:r>
          </a:p>
          <a:p>
            <a:pPr>
              <a:spcBef>
                <a:spcPts val="179"/>
              </a:spcBef>
              <a:spcAft>
                <a:spcPts val="15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2. NEVER skip approval gates — each one is a HARD STOP requiring explicit human "APPROVE".</a:t>
            </a:r>
          </a:p>
          <a:p>
            <a:pPr>
              <a:spcBef>
                <a:spcPts val="179"/>
              </a:spcBef>
              <a:spcAft>
                <a:spcPts val="15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3. NEVER generate SCRATCHPAD + PLAN in the same response. NEVER PLAN + TASKS together.</a:t>
            </a:r>
          </a:p>
          <a:p>
            <a:pPr>
              <a:spcBef>
                <a:spcPts val="179"/>
              </a:spcBef>
              <a:spcAft>
                <a:spcPts val="15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4. NEVER write implementation code before TASKS are approved by a human.</a:t>
            </a:r>
          </a:p>
          <a:p>
            <a:pPr>
              <a:spcBef>
                <a:spcPts val="179"/>
              </a:spcBef>
              <a:spcAft>
                <a:spcPts val="15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5. If any decision changes during execution: update scratchpad FIRST and request re-approval.</a:t>
            </a:r>
          </a:p>
          <a:p>
            <a:pPr>
              <a:spcBef>
                <a:spcPts val="179"/>
              </a:spcBef>
              <a:spcAft>
                <a:spcPts val="15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6. Before coding, ALWAYS ask: Approved scratchpad? Approved plan? Approved tasks? If NO → STOP.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6-Phase Mandatory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Every non-trivial task: Scratchpad → Plan → Tasks → Execute → Verify → Reflect.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1097280"/>
            <a:ext cx="1828800" cy="475488"/>
          </a:xfrm>
          <a:prstGeom prst="roundRect">
            <a:avLst>
              <a:gd name="adj" fmla="val 2500"/>
            </a:avLst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097280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234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SCRATCHPAD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664208"/>
            <a:ext cx="1828800" cy="20116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1719072"/>
            <a:ext cx="1737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Analyze codebase.</a:t>
            </a:r>
            <a:br/>
            <a:r>
              <a:t>Understand problem.</a:t>
            </a:r>
            <a:br/>
            <a:r>
              <a:t>Define scope &amp; invariants.</a:t>
            </a:r>
            <a:br/>
            <a:r>
              <a:t>Output: SCRATCHPAD.md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74903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97316"/>
                </a:solidFill>
                <a:latin typeface="Calibri"/>
              </a:defRPr>
            </a:pPr>
            <a:r>
              <a:t>🛑 GATE 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38528" y="2194560"/>
            <a:ext cx="164592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30552" y="1097280"/>
            <a:ext cx="1828800" cy="475488"/>
          </a:xfrm>
          <a:prstGeom prst="roundRect">
            <a:avLst>
              <a:gd name="adj" fmla="val 2500"/>
            </a:avLst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6272" y="1097280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1234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0552" y="1664208"/>
            <a:ext cx="1828800" cy="20116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6272" y="1719072"/>
            <a:ext cx="1737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Architecture changes.</a:t>
            </a:r>
            <a:br/>
            <a:r>
              <a:t>Risk analysis.</a:t>
            </a:r>
            <a:br/>
            <a:r>
              <a:t>Edge cases, non-goals.</a:t>
            </a:r>
            <a:br/>
            <a:r>
              <a:t>Output: PLAN.md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374903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97316"/>
                </a:solidFill>
                <a:latin typeface="Calibri"/>
              </a:defRPr>
            </a:pPr>
            <a:r>
              <a:t>🛑 GATE 2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31920" y="2194560"/>
            <a:ext cx="164592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23944" y="1097280"/>
            <a:ext cx="1828800" cy="475488"/>
          </a:xfrm>
          <a:prstGeom prst="roundRect">
            <a:avLst>
              <a:gd name="adj" fmla="val 2500"/>
            </a:avLst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9664" y="1097280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4" y="1234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23944" y="1664208"/>
            <a:ext cx="1828800" cy="20116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9664" y="1719072"/>
            <a:ext cx="1737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Ordered steps.</a:t>
            </a:r>
            <a:br/>
            <a:r>
              <a:t>Files to modify.</a:t>
            </a:r>
            <a:br/>
            <a:r>
              <a:t>Dependencies &amp; outputs.</a:t>
            </a:r>
            <a:br/>
            <a:r>
              <a:t>Output: TASKS.md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9664" y="374903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97316"/>
                </a:solidFill>
                <a:latin typeface="Calibri"/>
              </a:defRPr>
            </a:pPr>
            <a:r>
              <a:t>🛑 GATE 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25312" y="2194560"/>
            <a:ext cx="164592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17336" y="1097280"/>
            <a:ext cx="1828800" cy="475488"/>
          </a:xfrm>
          <a:prstGeom prst="roundRect">
            <a:avLst>
              <a:gd name="adj" fmla="val 2500"/>
            </a:avLst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097280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1234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IMPLEMENT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17336" y="1664208"/>
            <a:ext cx="1828800" cy="20116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056" y="1719072"/>
            <a:ext cx="1737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Write code per tasks.</a:t>
            </a:r>
            <a:br/>
            <a:r>
              <a:t>One task at a time.</a:t>
            </a:r>
            <a:br/>
            <a:r>
              <a:t>No scope creep.</a:t>
            </a:r>
            <a:br/>
            <a:r>
              <a:t>If change needed, re-approve.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374903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22C55E"/>
                </a:solidFill>
                <a:latin typeface="Calibri"/>
              </a:defRPr>
            </a:pPr>
            <a:r>
              <a:t>Follow tasks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918704" y="2194560"/>
            <a:ext cx="164592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10728" y="1097280"/>
            <a:ext cx="1828800" cy="475488"/>
          </a:xfrm>
          <a:prstGeom prst="roundRect">
            <a:avLst>
              <a:gd name="adj" fmla="val 2500"/>
            </a:avLst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1097280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1234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0728" y="1664208"/>
            <a:ext cx="1828800" cy="20116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56448" y="1719072"/>
            <a:ext cx="1737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Run tests, lint,</a:t>
            </a:r>
            <a:br/>
            <a:r>
              <a:t>type checks.</a:t>
            </a:r>
            <a:br/>
            <a:r>
              <a:t>Verify vs scratchpad.</a:t>
            </a:r>
            <a:br/>
            <a:r>
              <a:t>Generate missing tests.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374903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22C55E"/>
                </a:solidFill>
                <a:latin typeface="Calibri"/>
              </a:defRPr>
            </a:pPr>
            <a:r>
              <a:t>Quality gate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912096" y="2194560"/>
            <a:ext cx="164592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104120" y="1097280"/>
            <a:ext cx="1828800" cy="475488"/>
          </a:xfrm>
          <a:prstGeom prst="roundRect">
            <a:avLst>
              <a:gd name="adj" fmla="val 2500"/>
            </a:avLst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1097280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1234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REFLECT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04120" y="1664208"/>
            <a:ext cx="1828800" cy="20116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40" y="1719072"/>
            <a:ext cx="1737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Review execution.</a:t>
            </a:r>
            <a:br/>
            <a:r>
              <a:t>Capture learnings.</a:t>
            </a:r>
            <a:br/>
            <a:r>
              <a:t>Suggest improvements.</a:t>
            </a:r>
            <a:br/>
            <a:r>
              <a:t>Output: reflection.md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374903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22C55E"/>
                </a:solidFill>
                <a:latin typeface="Calibri"/>
              </a:defRPr>
            </a:pPr>
            <a:r>
              <a:t>For non-trivial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" y="4251960"/>
            <a:ext cx="11887200" cy="23317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34340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Context Loading — Before Every Task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4663440"/>
            <a:ext cx="11430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PROJECT.md      — What: tech stack, commands, directory structure, architecture patterns, deployment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CONVENTIONS.md  — How: naming conventions, import ordering, code organization, type safety, error handling, tests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BOUNDARIES.md   — Don't: forbidden actions, scope rules, sensitive data protection, code integrity, approval gates</a:t>
            </a: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50"/>
              </a:spcBef>
              <a:spcAft>
                <a:spcPts val="74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These 3 pillars are the primary source of truth. They define what the AI can do, how it should do it, and what it must never 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Phases 1-3: Think Before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Scratchpad, Plan, and Tasks — the "no code" phases where all thinking happens.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97280"/>
            <a:ext cx="3657600" cy="457200"/>
          </a:xfrm>
          <a:prstGeom prst="roundRect">
            <a:avLst>
              <a:gd name="adj" fmla="val 2500"/>
            </a:avLst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1: SCRATCHPAD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645920"/>
            <a:ext cx="3657600" cy="33832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33832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NO code or plans in this phase whatsoever.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Read PROJECT.md, CONVENTIONS.md, BOUNDARIES.md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Analyze the codebase relevant to the task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Understand the problem deeply — gather all context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Define scope, architecture invariants, known risks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Identify open questions and assumptions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Output: SCRATCHPAD.md → Human reviews → APPROVE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212080"/>
            <a:ext cx="2743200" cy="411480"/>
          </a:xfrm>
          <a:prstGeom prst="roundRect">
            <a:avLst>
              <a:gd name="adj" fmla="val 30000"/>
            </a:avLst>
          </a:prstGeom>
          <a:solidFill>
            <a:srgbClr val="3B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🛑 HARD STOP — GATE 1   WAIT for APPROVE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097280"/>
            <a:ext cx="3657600" cy="457200"/>
          </a:xfrm>
          <a:prstGeom prst="roundRect">
            <a:avLst>
              <a:gd name="adj" fmla="val 2500"/>
            </a:avLst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11556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2: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645920"/>
            <a:ext cx="3657600" cy="33832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737360"/>
            <a:ext cx="33832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Scratchpad must be APPROVED before starting.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NO code or task lists in this phase.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Define architecture changes, modules/files affected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Risk analysis, edge cases, validation strategy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Explicit non-goals — what we are NOT doing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If plan contradicts scratchpad → STOP, update scratchpad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Output: PLAN.md → Human reviews → APPROVE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212080"/>
            <a:ext cx="2743200" cy="411480"/>
          </a:xfrm>
          <a:prstGeom prst="roundRect">
            <a:avLst>
              <a:gd name="adj" fmla="val 30000"/>
            </a:avLst>
          </a:prstGeom>
          <a:solidFill>
            <a:srgbClr val="3B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🛑 HARD STOP — GATE 2   WAIT for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097280"/>
            <a:ext cx="3657600" cy="457200"/>
          </a:xfrm>
          <a:prstGeom prst="roundRect">
            <a:avLst>
              <a:gd name="adj" fmla="val 2500"/>
            </a:avLst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11556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3: TASKS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645920"/>
            <a:ext cx="3657600" cy="33832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737360"/>
            <a:ext cx="33832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Plan must be APPROVED before starting.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NO code in this phase — still thinking!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Break plan into ordered implementation steps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Files to create, modify, or delete per step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Dependencies between steps clearly marked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Expected output defined for each step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Output: TASKS.md → Human reviews → APPROVE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5212080"/>
            <a:ext cx="2743200" cy="411480"/>
          </a:xfrm>
          <a:prstGeom prst="roundRect">
            <a:avLst>
              <a:gd name="adj" fmla="val 30000"/>
            </a:avLst>
          </a:prstGeom>
          <a:solidFill>
            <a:srgbClr val="3B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🛑 HARD STOP — GATE 3   WAIT for APPROVE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" y="5852160"/>
            <a:ext cx="11704320" cy="68580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8978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E5B70B"/>
                </a:solidFill>
                <a:latin typeface="Calibri"/>
              </a:defRPr>
            </a:pPr>
            <a:r>
              <a:t>Dev Checklist: Before coding, ask — Scratchpad approved? Plan approved? Tasks approved? If any answer is NO → STOP. Do not write any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Phases 4-6: Execute, Verify,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Implementation, testing, and reflection — where code gets written and quality is proven.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97280"/>
            <a:ext cx="3657600" cy="457200"/>
          </a:xfrm>
          <a:prstGeom prst="roundRect">
            <a:avLst>
              <a:gd name="adj" fmla="val 2500"/>
            </a:avLst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4: IMPLEMENT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645920"/>
            <a:ext cx="3657600" cy="49377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Tasks must be APPROVED before writing any code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Implement one task at a time in defined order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Follow scratchpad invariants strictly — no deviation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Match existing code style and conventions exactly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If decision changes → update scratchpad FIRST → re-approve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No scope creep. No unrelated refactoring.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Files written ONCE per task — re-read before re-writing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097280"/>
            <a:ext cx="3657600" cy="457200"/>
          </a:xfrm>
          <a:prstGeom prst="roundRect">
            <a:avLst>
              <a:gd name="adj" fmla="val 2500"/>
            </a:avLst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11556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5: 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645920"/>
            <a:ext cx="3657600" cy="49377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7373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Run all relevant tests for the changes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Run lint and type checks — must pass cleanly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Verify behavior matches scratchpad objective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Generate or update tests as needed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If something deviates: explain why, propose update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Check logs and metrics if applicable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Tests verify BEHAVIOR, not implementation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097280"/>
            <a:ext cx="3657600" cy="457200"/>
          </a:xfrm>
          <a:prstGeom prst="roundRect">
            <a:avLst>
              <a:gd name="adj" fmla="val 2500"/>
            </a:avLst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11556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6: REFLECT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45920"/>
            <a:ext cx="3657600" cy="49377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7373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Review execution quality — did it match the plan?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Note any unexpected complexities or deviations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Capture learnings for future reference and reuse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Suggest workflow or convention improvements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Mandatory for multi-file &amp; architectural changes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Optional for trivial tasks (single file, simple fix)</a:t>
            </a:r>
          </a:p>
          <a:p>
            <a:pPr>
              <a:spcBef>
                <a:spcPts val="165"/>
              </a:spcBef>
              <a:spcAft>
                <a:spcPts val="165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Output: reflection.md with insights &amp; suggestions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Approval Gates: 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Four mandatory checkpoints where the AI MUST stop and wait for explicit human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11612880" cy="12344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1188720" cy="256032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Checks: After SCRATCHPAD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2801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Review scope, invariants, risks.</a:t>
            </a:r>
            <a:br/>
            <a:r>
              <a:t>Confirm AI understands correctly</a:t>
            </a:r>
            <a:br/>
            <a:r>
              <a:t>before any planning begins.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258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E5B70B"/>
                </a:solidFill>
                <a:latin typeface="Calibri"/>
              </a:defRPr>
            </a:pPr>
            <a:r>
              <a:t>Artifact:</a:t>
            </a:r>
            <a:br/>
            <a:r>
              <a:t>SCRATCHPAD.md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2801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"Review scratchpad.</a:t>
            </a:r>
            <a:br/>
            <a:r>
              <a:t>Reply APPROVE to</a:t>
            </a:r>
            <a:br/>
            <a:r>
              <a:t>continue."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560320"/>
            <a:ext cx="11612880" cy="12344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2651760"/>
            <a:ext cx="1188720" cy="256032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GATE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Checks: After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6974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Review architecture decisions,</a:t>
            </a:r>
            <a:br/>
            <a:r>
              <a:t>modules affected, risk analysis.</a:t>
            </a:r>
            <a:br/>
            <a:r>
              <a:t>Confirm approach before tasks.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7432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E5B70B"/>
                </a:solidFill>
                <a:latin typeface="Calibri"/>
              </a:defRPr>
            </a:pPr>
            <a:r>
              <a:t>Artifact:</a:t>
            </a:r>
            <a:br/>
            <a:r>
              <a:t>PLAN.md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"Review the plan.</a:t>
            </a:r>
            <a:br/>
            <a:r>
              <a:t>Reply APPROVE to</a:t>
            </a:r>
            <a:br/>
            <a:r>
              <a:t>continue."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977639"/>
            <a:ext cx="11612880" cy="12344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4069079"/>
            <a:ext cx="1188720" cy="256032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GATE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1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Checks: After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114799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Review ordered implementation</a:t>
            </a:r>
            <a:br/>
            <a:r>
              <a:t>steps. Confirm each task is clear,</a:t>
            </a:r>
            <a:br/>
            <a:r>
              <a:t>scoped, with expected outputs.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160519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E5B70B"/>
                </a:solidFill>
                <a:latin typeface="Calibri"/>
              </a:defRPr>
            </a:pPr>
            <a:r>
              <a:t>Artifact:</a:t>
            </a:r>
            <a:br/>
            <a:r>
              <a:t>TASKS.md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114799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"Review the tasks.</a:t>
            </a:r>
            <a:br/>
            <a:r>
              <a:t>Reply APPROVE to</a:t>
            </a:r>
            <a:br/>
            <a:r>
              <a:t>continue."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394960"/>
            <a:ext cx="11612880" cy="123444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" y="5486400"/>
            <a:ext cx="1188720" cy="256032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GATE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0644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Checks: After IMPLEMENT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5321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Review completed code. Verify</a:t>
            </a:r>
            <a:br/>
            <a:r>
              <a:t>matches plan and passes quality</a:t>
            </a:r>
            <a:br/>
            <a:r>
              <a:t>checks before final testing.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5778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E5B70B"/>
                </a:solidFill>
                <a:latin typeface="Calibri"/>
              </a:defRPr>
            </a:pPr>
            <a:r>
              <a:t>Artifact:</a:t>
            </a:r>
            <a:br/>
            <a:r>
              <a:t>Completed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553212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"Implementation complete.</a:t>
            </a:r>
            <a:br/>
            <a:r>
              <a:t>Please review before</a:t>
            </a:r>
            <a:br/>
            <a:r>
              <a:t>final testing."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Additional triggers: Architecture decisions | Breaking changes | New dependencies | Plan changes mid-execution → ALL require re-approval.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Contract-First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Design ALL contracts before writing ANY code. Contracts are the source of truth — code conforms to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97280"/>
            <a:ext cx="3703320" cy="411480"/>
          </a:xfrm>
          <a:prstGeom prst="roundRect">
            <a:avLst>
              <a:gd name="adj" fmla="val 2500"/>
            </a:avLst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API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600200"/>
            <a:ext cx="3703320" cy="3749039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3429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OpenAPI specs for EVERY endpoint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kebab-case paths, plural collections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RFC 7807 standard error responses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Cursor-based pagination (not offset)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URL-path versioning (/v1/)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Rate limiting per-client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097280"/>
            <a:ext cx="3703320" cy="411480"/>
          </a:xfrm>
          <a:prstGeom prst="roundRect">
            <a:avLst>
              <a:gd name="adj" fmla="val 2500"/>
            </a:avLst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11556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Event Contracts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00200"/>
            <a:ext cx="3703320" cy="3749039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91640"/>
            <a:ext cx="3429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Standard event envelope schema: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{type, schemaVersion, source,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correlationId, timestamp, payload}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Topic catalog with partition keys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Outbox pattern for transactional publishing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Inbox pattern for deduplication (idempotent)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Schema evolution: add=OK, remove=major, rename=never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97280"/>
            <a:ext cx="3703320" cy="411480"/>
          </a:xfrm>
          <a:prstGeom prst="roundRect">
            <a:avLst>
              <a:gd name="adj" fmla="val 2500"/>
            </a:avLst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11556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 Contracts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703320" cy="3749039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91640"/>
            <a:ext cx="3429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ER diagrams with index strategy included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Storage type per service (PG, Redis, S3)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Connection pooling strategy (PgBouncer / proxy)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1yr and 3yr storage growth projections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Database-per-service — no cross-service JOINs</a:t>
            </a:r>
          </a:p>
          <a:p>
            <a:pPr>
              <a:spcBef>
                <a:spcPts val="165"/>
              </a:spcBef>
              <a:spcAft>
                <a:spcPts val="137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  Numbered migrations, never edit existing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5623560"/>
            <a:ext cx="6766560" cy="960120"/>
          </a:xfrm>
          <a:prstGeom prst="roundRect">
            <a:avLst>
              <a:gd name="adj" fmla="val 2500"/>
            </a:avLst>
          </a:prstGeom>
          <a:solidFill>
            <a:srgbClr val="0F341A"/>
          </a:solidFill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6692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99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BENEFITS: Prevents #1 production issue (inconsistent APIs)</a:t>
            </a:r>
          </a:p>
          <a:p>
            <a:pPr>
              <a:spcBef>
                <a:spcPts val="150"/>
              </a:spcBef>
              <a:spcAft>
                <a:spcPts val="99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Enables parallel development | Contracts serve as living documentation</a:t>
            </a:r>
          </a:p>
          <a:p>
            <a:pPr>
              <a:spcBef>
                <a:spcPts val="150"/>
              </a:spcBef>
              <a:spcAft>
                <a:spcPts val="99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API consumers can start integration before backend is implemented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5623560"/>
            <a:ext cx="4617720" cy="960120"/>
          </a:xfrm>
          <a:prstGeom prst="roundRect">
            <a:avLst>
              <a:gd name="adj" fmla="val 2500"/>
            </a:avLst>
          </a:prstGeom>
          <a:solidFill>
            <a:srgbClr val="3B0F0F"/>
          </a:solidFill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56692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99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COMMON MISTAKES:</a:t>
            </a:r>
          </a:p>
          <a:p>
            <a:pPr>
              <a:spcBef>
                <a:spcPts val="150"/>
              </a:spcBef>
              <a:spcAft>
                <a:spcPts val="99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Code-first APIs → inconsistent contracts</a:t>
            </a:r>
          </a:p>
          <a:p>
            <a:pPr>
              <a:spcBef>
                <a:spcPts val="150"/>
              </a:spcBef>
              <a:spcAft>
                <a:spcPts val="99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Offset pagination → degrades at page 1000+</a:t>
            </a:r>
          </a:p>
          <a:p>
            <a:pPr>
              <a:spcBef>
                <a:spcPts val="150"/>
              </a:spcBef>
              <a:spcAft>
                <a:spcPts val="99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No event versioning → silently breaking consumers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Vertical Slice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Prove ONE complete flow works end-to-end before building all services horizontally.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029200" cy="384048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HORIZONTAL BUILD  (DON'T)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00200"/>
            <a:ext cx="5394960" cy="19659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██  All APIs built first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██  All Services built first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██  All Databases built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██  All Events wired up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Nothing works end-to-end.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Integration issues discovered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only when everything is wired.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Late discoveries = expensive fixes.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029200" cy="38404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VERTICAL SLICE  (DO THIS)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██  One API endpoint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██  One Service logic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██  One Database table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██  One Event published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Complete flow works end-to-end.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Architecture validated early.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Problems found cheaply,</a:t>
            </a:r>
          </a:p>
          <a:p>
            <a:pPr>
              <a:spcBef>
                <a:spcPts val="165"/>
              </a:spcBef>
              <a:spcAft>
                <a:spcPts val="109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before scaling to all services.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32120" y="2286000"/>
            <a:ext cx="594360" cy="32004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After Vertical Slice Success — Build Tier-by-Tier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1: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416552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User/Auth, Config, API Gateway — shared infrastructure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2: Core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010912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Product/Catalog, Inventory, Pricing — domain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3212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3: 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605272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Order, Payment, Cart — revenue-critical 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12648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4: Support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199632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Notifications, Analytics, Admin — operational needs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Safety Boundaries: What the AI Must Never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Hard constraints enforced across all tools and workflows. Non-negotiable.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14300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2011680" cy="27432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Scope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3429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Do NOT modify code outside the task scope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Do NOT refactor unrelated code while fixing bugs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If &gt; 3 files need changes, verify scope first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Each file written once — re-read before re-writing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4300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234440"/>
            <a:ext cx="2011680" cy="27432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Destructive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0"/>
            <a:ext cx="3429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rm -rf or equivalent destructive commands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git push or git reset --hard without approval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modify build outputs or node_modules directly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modify dependency lock files directly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234440"/>
            <a:ext cx="2011680" cy="27432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Sensitive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429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read .env or environment variable files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read secrets, credentials, or API keys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read Terraform state or infrastructure secrets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expose secrets in code, logs, or documentation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88620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3977640"/>
            <a:ext cx="2011680" cy="27432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Code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389120"/>
            <a:ext cx="3429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mix editing strategies on the same file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wipe entire files — edit section by section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If file changes externally, re-read before writing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Read all related files first, then write one by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88620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97680" y="3977640"/>
            <a:ext cx="2011680" cy="27432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Approval 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389120"/>
            <a:ext cx="3429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skip a human approval gate — CRITICAL violation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generate SCRATCHPAD + PLAN in same response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generate PLAN + TASKS in same response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write code before TASKS are approved by human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88620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3977640"/>
            <a:ext cx="2011680" cy="27432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Tool Discipline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389120"/>
            <a:ext cx="3429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Doc tools: for external library documentation only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Analysis tools: symbols only — not broad text search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Repo tools: PR management, code review, issues only</a:t>
            </a:r>
          </a:p>
          <a:p>
            <a:pPr>
              <a:spcBef>
                <a:spcPts val="150"/>
              </a:spcBef>
              <a:spcAft>
                <a:spcPts val="125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Never commit secrets through any tool or integration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Common Mistakes &amp; Anti-patterns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What to avoid at each stage of the agentic development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143000"/>
            <a:ext cx="11704320" cy="749808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52728"/>
            <a:ext cx="1737360" cy="22860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Scratchpad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2527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Jumping into code without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2527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Skipping context file review entirely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2527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Not defining explicit invariants and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00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Correct approach: Follow phase rules. Approval gates exist to prevent exactly these mistakes.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075688"/>
            <a:ext cx="11704320" cy="749808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185416"/>
            <a:ext cx="1737360" cy="22860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Plan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18541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Vague plans without specific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18541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No edge case or risk analysis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8541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Plans that ignore scratchpad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53288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Correct approach: Follow phase rules. Approval gates exist to prevent exactly these mistakes.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3008376"/>
            <a:ext cx="11704320" cy="749808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3118104"/>
            <a:ext cx="1737360" cy="22860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Tasks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118104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Tasks too large to verify independently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118104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Missing dependencies between task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118104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No expected output defined per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465576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Correct approach: Follow phase rules. Approval gates exist to prevent exactly these mistakes.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941064"/>
            <a:ext cx="11704320" cy="749808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" y="4050792"/>
            <a:ext cx="1737360" cy="22860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Execute Phase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050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Scope creep — adding unapproved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050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Mixing refactoring with feature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050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Ignoring existing code style conventions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398264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Correct approach: Follow phase rules. Approval gates exist to prevent exactly these mistakes.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4873752"/>
            <a:ext cx="11704320" cy="749808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5760" y="4983480"/>
            <a:ext cx="1737360" cy="22860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Verify Phase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9834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Skipping tests because "it works locally"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9834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Not checking for regressions in related areas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9834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Ignoring lint and type check failures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33095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Correct approach: Follow phase rules. Approval gates exist to prevent exactly these mistakes.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" y="5806440"/>
            <a:ext cx="11704320" cy="749808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5760" y="5916168"/>
            <a:ext cx="1737360" cy="22860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Reflect Phase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9161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Skipping reflection entirely after execution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59161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Not capturing learnings for future sessions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9161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 Repeating the same mistakes across tasks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26364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Correct approach: Follow phase rules. Approval gates exist to prevent exactly these mistakes.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Getting Started with Agentic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Your first steps into AI-assisted software 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11612880" cy="621792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18872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Set Up 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4475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Install via curl/winget/brew. Run claude login. Explore the CLI and VS Code extension capabilities.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901952"/>
            <a:ext cx="11612880" cy="621792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197510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Create Your CLAUDE.md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4942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Write your project constitution: tech stack, coding standards, common commands, and architecture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706624"/>
            <a:ext cx="11612880" cy="621792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277977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980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Learn the Workflow Rhythm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54096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For any task: scratchpad first (think), plan second (design), tasks third (break down). Get approval at each gate.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511296"/>
            <a:ext cx="11612880" cy="621792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35844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60273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Build Reusable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5876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Create .claude/skills/ for repeatable workflows: /deploy, /review-pr, /commit. Share with team via version control.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315968"/>
            <a:ext cx="11612880" cy="621792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1480" y="43891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0740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Connect MCP Servers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634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Connect to GitHub, Jira, databases, and monitoring tools. Let Claude read and act on your existing tools directly.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5120640"/>
            <a:ext cx="11612880" cy="621792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1480" y="519379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1208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Create Custom Sub-agents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46811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Define agents for recurring tasks: code-reviewer, test-runner, security-auditor. Use the /agents command interface.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925312"/>
            <a:ext cx="11612880" cy="621792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" y="599846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601675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Automate &amp; Continuously Evolve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627278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Set up CI/CD integration. Create routines for scheduled tasks. Review and refine your setup regularly.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Mental Models for Agentic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How to think when collaborating with AI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11612880" cy="11887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2560320" cy="22860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Operating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4300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alibri"/>
              </a:defRPr>
            </a:pPr>
            <a:r>
              <a:t>Plan → Review → Execute → Verify → Reflect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Before coding, ask: Approved scratchpad? Approved plan? Approved tasks? If any answer is NO — STOP. Code is always the last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468880"/>
            <a:ext cx="11612880" cy="11887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2560320"/>
            <a:ext cx="2560320" cy="22860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Discovery Triangle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56032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alibri"/>
              </a:defRPr>
            </a:pPr>
            <a:r>
              <a:t>WHAT (Problem) ← WHO (Users) → WHY (Value) →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Every decision traces to this triangle. What problem? For whom? Why does it matter? What can go wrong? Understand before you build.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86200"/>
            <a:ext cx="11612880" cy="11887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3977640"/>
            <a:ext cx="2560320" cy="22860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Iceberg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7764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alibri"/>
              </a:defRPr>
            </a:pPr>
            <a:r>
              <a:t>Visible: 10% (APIs) | Hidden: 90% (Domain, Security, Data, Failures)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Users see only the API surface. But 90% of architectural thinking happens below — domain models, security, data ownership, failure modes.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303520"/>
            <a:ext cx="11612880" cy="11887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5394960"/>
            <a:ext cx="2560320" cy="22860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Infinity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3949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alibri"/>
              </a:defRPr>
            </a:pPr>
            <a:r>
              <a:t>BUILD (Design→Build→Test→Deploy) ↔ OPERATE (Monitor→Detect→Respond→Learn) ↔ 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15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The system is never "done." It cycles continuously: operate → learn → improve → build. Each iteration improves both the system and the process.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 Light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914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What to remember from this 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9728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3B82F6"/>
                </a:solidFill>
                <a:latin typeface="Calibri"/>
              </a:defRPr>
            </a:pPr>
            <a:r>
              <a:t>Claude Code is Your</a:t>
            </a:r>
            <a:br/>
            <a:r>
              <a:t>Engineering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3429000" cy="1828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3429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Skills, commands, MCP, sub-agents, hooks, and plugins make it a full development platform — not just a chatbot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09728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07008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22C55E"/>
                </a:solidFill>
                <a:latin typeface="Calibri"/>
              </a:defRPr>
            </a:pPr>
            <a:r>
              <a:t>Think First,</a:t>
            </a:r>
            <a:br/>
            <a:r>
              <a:t>Code Last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03120"/>
            <a:ext cx="3429000" cy="1828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297680" y="2240280"/>
            <a:ext cx="3429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Scratchpad → Plan → Tasks → Execute → Verify → Reflect. The 6-phase workflow ensures quality and prevents costly scope creep.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9728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07008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F97316"/>
                </a:solidFill>
                <a:latin typeface="Calibri"/>
              </a:defRPr>
            </a:pPr>
            <a:r>
              <a:t>Human-in-the-Loop</a:t>
            </a:r>
            <a:br/>
            <a:r>
              <a:t>is Mandatory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103120"/>
            <a:ext cx="3429000" cy="18288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80"/>
            <a:ext cx="3429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Four approval gates. Explicit "APPROVE" required at each. AI executes with agency — but humans make the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388620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995928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A855F7"/>
                </a:solidFill>
                <a:latin typeface="Calibri"/>
              </a:defRPr>
            </a:pPr>
            <a:r>
              <a:t>Contracts Define</a:t>
            </a:r>
            <a:br/>
            <a:r>
              <a:t>Everything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892040"/>
            <a:ext cx="3429000" cy="18288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365760" y="5029200"/>
            <a:ext cx="3429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Design API specs, event schemas, and data models BEFORE any implementation. Code conforms to contracts — never the reverse.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88620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995928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EF4444"/>
                </a:solidFill>
                <a:latin typeface="Calibri"/>
              </a:defRPr>
            </a:pPr>
            <a:r>
              <a:t>Vertical Slice</a:t>
            </a:r>
            <a:br/>
            <a:r>
              <a:t>Before Horizontal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892040"/>
            <a:ext cx="3429000" cy="18288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297680" y="5029200"/>
            <a:ext cx="3429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Prove ONE complete flow end-to-end first. Then expand tier-by-tier. Architecture flaws are exponentially cheaper to catch early.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886200"/>
            <a:ext cx="3703320" cy="246888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995928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E5B70B"/>
                </a:solidFill>
                <a:latin typeface="Calibri"/>
              </a:defRPr>
            </a:pPr>
            <a:r>
              <a:t>Continuous</a:t>
            </a:r>
            <a:br/>
            <a:r>
              <a:t>Improvement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892040"/>
            <a:ext cx="3429000" cy="18288"/>
          </a:xfrm>
          <a:prstGeom prst="roundRect">
            <a:avLst>
              <a:gd name="adj" fmla="val 30000"/>
            </a:avLst>
          </a:prstGeom>
          <a:solidFill>
            <a:srgbClr val="E5B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229600" y="5029200"/>
            <a:ext cx="3429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The Reflect phase ensures every session makes the next one better. Capture learnings. Update conventions. Evolve the workflow always.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54864" cy="6812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118872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0">
                <a:solidFill>
                  <a:srgbClr val="E2E8F0"/>
                </a:solidFill>
                <a:latin typeface="Calibri"/>
              </a:defRPr>
            </a:pPr>
            <a:r>
              <a:t>The future of software development is agentic.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Claude Code is your engineering team. You are the architect.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10789920" cy="164592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9050">
            <a:solidFill>
              <a:srgbClr val="334055"/>
            </a:solidFill>
          </a:ln>
          <a:effectLst>
            <a:outerShdw blurRad="40000" dist="25000" dir="2700000" algn="b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95"/>
              </a:spcBef>
              <a:spcAft>
                <a:spcPts val="142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Start today:</a:t>
            </a:r>
          </a:p>
          <a:p>
            <a:pPr>
              <a:spcBef>
                <a:spcPts val="195"/>
              </a:spcBef>
              <a:spcAft>
                <a:spcPts val="142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  • Install:    curl -fsSL https://claude.ai/install.sh | bash</a:t>
            </a:r>
          </a:p>
          <a:p>
            <a:pPr>
              <a:spcBef>
                <a:spcPts val="195"/>
              </a:spcBef>
              <a:spcAft>
                <a:spcPts val="142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  • Learn:      docs.anthropic.com/en/docs/claude-code/overview</a:t>
            </a:r>
          </a:p>
          <a:p>
            <a:pPr>
              <a:spcBef>
                <a:spcPts val="195"/>
              </a:spcBef>
              <a:spcAft>
                <a:spcPts val="142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  • Build:      Create your CLAUDE.md, custom skills, and first agentic workflow</a:t>
            </a:r>
          </a:p>
          <a:p>
            <a:pPr>
              <a:spcBef>
                <a:spcPts val="195"/>
              </a:spcBef>
              <a:spcAft>
                <a:spcPts val="142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  • Connect:    Add MCP servers for GitHub, Jira, databases, and more</a:t>
            </a:r>
          </a:p>
          <a:p>
            <a:pPr>
              <a:spcBef>
                <a:spcPts val="195"/>
              </a:spcBef>
              <a:spcAft>
                <a:spcPts val="142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  • Evolve:     Review, reflect, and improve — the cycle never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  <a:latin typeface="Calibri"/>
              </a:defRPr>
            </a:pPr>
            <a:r>
              <a:t>code.claude.com  |  docs.anthropic.com  |  github.com/modelcontextprotocol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